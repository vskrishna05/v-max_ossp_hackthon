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27"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666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C program that uses POSIX threads so that several workers search folders at the same time. It runs on Ubuntu Linux. Check the team names, ID numbers and section on this slide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Searching big folders one file at a time is slow, and text search must open many files. Because the search tasks are independent, several workers can share them. Say clearly that more threads are not always faster; it depends on the folder and the disk.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written in C and built with GCC and Make. POSIX threads (pthread) give us threads, a mutex to protect shared data and condition variables so threads can wait for tasks. opendir/readdir read folders, and stat/lstat give file details. It runs on Ubuntu Linux, and WSL lets it reach Windows files through /mnt/c.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from top to bottom. The user picks an option in the menu. The main search function puts tasks in a shared task list. Worker threads take tasks and search files and folders. Results and statistics are collected safely, then shown, and the search is saved in the search history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select an option, check the folder path, add tasks to the shared list, let workers search, save the results safely, then show the results and save the history. Safeguards: unreadable folders are skipped, non-text files are skipped in text search, visited folders are tracked to avoid loops, and workers stop cleanly.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1 to 3. Option 1 finds names that match, with or without patterns. Option 2 reads files line by line and shows the path, line number and the line. Option 3 groups files by extension. The screenshots are real runs: the filename search found 2 matches and the text search for #include found 27.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4 to 6. Option 4 searches the Windows computer through /mnt/c, for example Desktop, Downloads or Documents. Option 5 finds files larger or smaller than a chosen size. Option 6 lists hidden files such as .env and .bashrc. The size and hidden-file runs found 0 matches in our 6-file test folder.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7 to 10. Duplicate search first compares file size, then a hash value, then the file contents byte by byte, and reports storage space that could be saved. Benchmark runs the search with 1, 2, 4, 8 and 12 threads. Option 9 shows the history log and option 10 exits safely. Our test folder had only 6 files and no duplicates.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uses several worker threads that share search tasks from one task list. A mutex is a lock that protects shared results and the task list. Condition variables let workers wait until a task is ready. Visited folders are tracked so symbolic links cannot cause endless loops. Duplicate detection checks file size first, then a hash value (FNV-1a calculates a short value from the file contents), then memcmp compares the contents byte by byte.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screenshots are real terminal output from our runs. The filename search found 2 matches in 6 files. The text search for #include showed matching lines. The duplicate search checked 6 files and found none. The performance test on the same 6-file folder gave 1.00x, 1.60x, 1.07x, 0.42x and 0.46x for 1, 2, 4, 8 and 12 threads. With so few files, the time to manage threads is larger than the work, so a bigger folder test is still pending.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1033272"/>
            <a:ext cx="640080" cy="45720"/>
          </a:xfrm>
          <a:prstGeom prst="rect">
            <a:avLst/>
          </a:prstGeom>
          <a:solidFill>
            <a:schemeClr val="accent2"/>
          </a:solidFill>
          <a:ln/>
        </p:spPr>
      </p:sp>
      <p:sp>
        <p:nvSpPr>
          <p:cNvPr id="3" name="Text 1"/>
          <p:cNvSpPr/>
          <p:nvPr/>
        </p:nvSpPr>
        <p:spPr>
          <a:xfrm>
            <a:off x="548640" y="6400800"/>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Parallel File Search Using Threads  |  KLH University</a:t>
            </a:r>
            <a:endParaRPr lang="en-US" sz="1000" dirty="0"/>
          </a:p>
        </p:txBody>
      </p:sp>
      <p:sp>
        <p:nvSpPr>
          <p:cNvPr id="4" name="Text 2"/>
          <p:cNvSpPr>
            <a:spLocks noGrp="1"/>
          </p:cNvSpPr>
          <p:nvPr>
            <p:ph type="title" idx="102" hasCustomPrompt="1"/>
          </p:nvPr>
        </p:nvSpPr>
        <p:spPr>
          <a:xfrm>
            <a:off x="548640" y="365760"/>
            <a:ext cx="1051560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pic>
        <p:nvPicPr>
          <p:cNvPr id="20" name="KLH logo" descr="KLH University logo"/>
          <p:cNvPicPr>
            <a:picLocks noChangeAspect="1"/>
          </p:cNvPicPr>
          <p:nvPr userDrawn="1"/>
        </p:nvPicPr>
        <p:blipFill>
          <a:blip r:embed="rId2"/>
          <a:stretch>
            <a:fillRect/>
          </a:stretch>
        </p:blipFill>
        <p:spPr>
          <a:xfrm>
            <a:off x="10817352" y="201168"/>
            <a:ext cx="822960" cy="61169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595360" y="-1280160"/>
            <a:ext cx="5303520" cy="5303520"/>
          </a:xfrm>
          <a:prstGeom prst="ellipse">
            <a:avLst/>
          </a:prstGeom>
          <a:solidFill>
            <a:schemeClr val="accent2"/>
          </a:solidFill>
          <a:ln w="12700">
            <a:solidFill>
              <a:schemeClr val="accent2"/>
            </a:solidFill>
            <a:prstDash val="solid"/>
          </a:ln>
        </p:spPr>
      </p:sp>
      <p:sp>
        <p:nvSpPr>
          <p:cNvPr id="3" name="Shape 1"/>
          <p:cNvSpPr/>
          <p:nvPr/>
        </p:nvSpPr>
        <p:spPr>
          <a:xfrm>
            <a:off x="10332720" y="2103120"/>
            <a:ext cx="3291840" cy="3291840"/>
          </a:xfrm>
          <a:prstGeom prst="ellipse">
            <a:avLst/>
          </a:prstGeom>
          <a:solidFill>
            <a:schemeClr val="accent1"/>
          </a:solidFill>
          <a:ln w="12700">
            <a:solidFill>
              <a:schemeClr val="accent1"/>
            </a:solidFill>
            <a:prstDash val="solid"/>
          </a:ln>
        </p:spPr>
      </p:sp>
      <p:pic>
        <p:nvPicPr>
          <p:cNvPr id="4" name="Image 0" descr="KLH University logo"/>
          <p:cNvPicPr>
            <a:picLocks noChangeAspect="1"/>
          </p:cNvPicPr>
          <p:nvPr/>
        </p:nvPicPr>
        <p:blipFill>
          <a:blip r:embed="rId3"/>
          <a:stretch>
            <a:fillRect/>
          </a:stretch>
        </p:blipFill>
        <p:spPr>
          <a:xfrm>
            <a:off x="182534" y="-38717"/>
            <a:ext cx="2194906" cy="1631913"/>
          </a:xfrm>
          <a:prstGeom prst="rect">
            <a:avLst/>
          </a:prstGeom>
        </p:spPr>
      </p:pic>
      <p:sp>
        <p:nvSpPr>
          <p:cNvPr id="5" name="Text 2"/>
          <p:cNvSpPr txBox="1"/>
          <p:nvPr/>
        </p:nvSpPr>
        <p:spPr>
          <a:xfrm>
            <a:off x="548640" y="2057400"/>
            <a:ext cx="7680960" cy="1188720"/>
          </a:xfrm>
          <a:prstGeom prst="rect">
            <a:avLst/>
          </a:prstGeom>
          <a:noFill/>
          <a:ln/>
        </p:spPr>
        <p:txBody>
          <a:bodyPr wrap="square" lIns="0" tIns="0" rIns="0" bIns="0" rtlCol="0" anchor="t"/>
          <a:lstStyle/>
          <a:p>
            <a:pPr marL="0" indent="0">
              <a:buNone/>
            </a:pPr>
            <a:r>
              <a:rPr lang="en-US" sz="3600" b="1" dirty="0">
                <a:solidFill>
                  <a:schemeClr val="tx1"/>
                </a:solidFill>
                <a:latin typeface="Cambria" pitchFamily="34" charset="0"/>
                <a:ea typeface="Cambria" pitchFamily="34" charset="-122"/>
                <a:cs typeface="Cambria" pitchFamily="34" charset="-120"/>
              </a:rPr>
              <a:t>Parallel File Search Using Threads</a:t>
            </a:r>
            <a:endParaRPr lang="en-US" sz="3600" dirty="0"/>
          </a:p>
        </p:txBody>
      </p:sp>
      <p:sp>
        <p:nvSpPr>
          <p:cNvPr id="6" name="Shape 3"/>
          <p:cNvSpPr/>
          <p:nvPr/>
        </p:nvSpPr>
        <p:spPr>
          <a:xfrm>
            <a:off x="548640" y="3840480"/>
            <a:ext cx="640080" cy="45720"/>
          </a:xfrm>
          <a:prstGeom prst="rect">
            <a:avLst/>
          </a:prstGeom>
          <a:solidFill>
            <a:schemeClr val="accent2"/>
          </a:solidFill>
          <a:ln w="12700">
            <a:solidFill>
              <a:schemeClr val="accent2"/>
            </a:solidFill>
            <a:prstDash val="solid"/>
          </a:ln>
        </p:spPr>
      </p:sp>
      <p:sp>
        <p:nvSpPr>
          <p:cNvPr id="9" name="Team card"/>
          <p:cNvSpPr/>
          <p:nvPr/>
        </p:nvSpPr>
        <p:spPr>
          <a:xfrm>
            <a:off x="548640" y="4505388"/>
            <a:ext cx="5852160" cy="1631688"/>
          </a:xfrm>
          <a:prstGeom prst="roundRect">
            <a:avLst>
              <a:gd name="adj" fmla="val 10000"/>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10" name="Shape 7"/>
          <p:cNvSpPr/>
          <p:nvPr/>
        </p:nvSpPr>
        <p:spPr>
          <a:xfrm>
            <a:off x="731520" y="4956048"/>
            <a:ext cx="731520" cy="731520"/>
          </a:xfrm>
          <a:prstGeom prst="roundRect">
            <a:avLst>
              <a:gd name="adj" fmla="val 12500"/>
            </a:avLst>
          </a:prstGeom>
          <a:solidFill>
            <a:schemeClr val="accent1"/>
          </a:solidFill>
          <a:ln w="12700">
            <a:solidFill>
              <a:schemeClr val="accent1"/>
            </a:solidFill>
            <a:prstDash val="solid"/>
          </a:ln>
        </p:spPr>
      </p:sp>
      <p:sp>
        <p:nvSpPr>
          <p:cNvPr id="11" name="Text 8"/>
          <p:cNvSpPr txBox="1"/>
          <p:nvPr/>
        </p:nvSpPr>
        <p:spPr>
          <a:xfrm>
            <a:off x="731520" y="5001768"/>
            <a:ext cx="731520" cy="45720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08</a:t>
            </a:r>
            <a:endParaRPr lang="en-US" sz="2200" dirty="0"/>
          </a:p>
        </p:txBody>
      </p:sp>
      <p:sp>
        <p:nvSpPr>
          <p:cNvPr id="12" name="Text 9"/>
          <p:cNvSpPr txBox="1"/>
          <p:nvPr/>
        </p:nvSpPr>
        <p:spPr>
          <a:xfrm>
            <a:off x="731520" y="5458968"/>
            <a:ext cx="731520" cy="182880"/>
          </a:xfrm>
          <a:prstGeom prst="rect">
            <a:avLst/>
          </a:prstGeom>
          <a:noFill/>
          <a:ln/>
        </p:spPr>
        <p:txBody>
          <a:bodyPr wrap="square" lIns="0" tIns="0" rIns="0" bIns="0" rtlCol="0" anchor="t"/>
          <a:lstStyle/>
          <a:p>
            <a:pPr marL="0" indent="0" algn="ctr">
              <a:buNone/>
            </a:pPr>
            <a:r>
              <a:rPr lang="en-US" sz="800" dirty="0">
                <a:solidFill>
                  <a:schemeClr val="bg1"/>
                </a:solidFill>
              </a:rPr>
              <a:t>SECTION</a:t>
            </a:r>
            <a:endParaRPr lang="en-US" sz="800" dirty="0"/>
          </a:p>
        </p:txBody>
      </p:sp>
      <p:sp>
        <p:nvSpPr>
          <p:cNvPr id="13" name="Text 10"/>
          <p:cNvSpPr txBox="1"/>
          <p:nvPr/>
        </p:nvSpPr>
        <p:spPr>
          <a:xfrm>
            <a:off x="1737360" y="4673886"/>
            <a:ext cx="4114800" cy="201168"/>
          </a:xfrm>
          <a:prstGeom prst="rect">
            <a:avLst/>
          </a:prstGeom>
          <a:noFill/>
          <a:ln/>
        </p:spPr>
        <p:txBody>
          <a:bodyPr wrap="square" lIns="0" tIns="0" rIns="0" bIns="0" rtlCol="0" anchor="t"/>
          <a:lstStyle/>
          <a:p>
            <a:pPr marL="0" indent="0">
              <a:buNone/>
            </a:pPr>
            <a:r>
              <a:rPr lang="en-US" sz="1000" b="1" kern="0" spc="200" dirty="0">
                <a:solidFill>
                  <a:schemeClr val="accent1"/>
                </a:solidFill>
              </a:rPr>
              <a:t>TEAM MEMBERS</a:t>
            </a:r>
            <a:endParaRPr lang="en-US" sz="1000" dirty="0"/>
          </a:p>
        </p:txBody>
      </p:sp>
      <p:sp>
        <p:nvSpPr>
          <p:cNvPr id="14" name="Text 11"/>
          <p:cNvSpPr txBox="1"/>
          <p:nvPr/>
        </p:nvSpPr>
        <p:spPr>
          <a:xfrm>
            <a:off x="1696485" y="4911705"/>
            <a:ext cx="4480560" cy="59436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Venkata Sai Krishna  2520030027</a:t>
            </a:r>
          </a:p>
          <a:p>
            <a:pPr marL="0" indent="0">
              <a:spcAft>
                <a:spcPts val="300"/>
              </a:spcAft>
              <a:buNone/>
            </a:pPr>
            <a:r>
              <a:rPr lang="en-US" sz="1500" b="1" dirty="0" err="1"/>
              <a:t>Pujith</a:t>
            </a:r>
            <a:r>
              <a:rPr lang="en-US" sz="1500" b="1" dirty="0"/>
              <a:t> Pavan Kumar 2520030029</a:t>
            </a:r>
            <a:endParaRPr lang="en-US" sz="1500" dirty="0"/>
          </a:p>
          <a:p>
            <a:pPr marL="0" indent="0">
              <a:spcAft>
                <a:spcPts val="300"/>
              </a:spcAft>
              <a:buNone/>
            </a:pPr>
            <a:r>
              <a:rPr lang="en-US" sz="1500" b="1" dirty="0">
                <a:solidFill>
                  <a:schemeClr val="tx1"/>
                </a:solidFill>
              </a:rPr>
              <a:t>Ajai Manikanta  2520030320</a:t>
            </a:r>
          </a:p>
          <a:p>
            <a:pPr marL="0" indent="0">
              <a:spcAft>
                <a:spcPts val="300"/>
              </a:spcAft>
              <a:buNone/>
            </a:pPr>
            <a:r>
              <a:rPr lang="en-US" sz="1500" b="1" dirty="0"/>
              <a:t>Bandla Vinay 2520030347</a:t>
            </a:r>
            <a:endParaRPr lang="en-US" sz="1500" b="1" dirty="0">
              <a:solidFill>
                <a:schemeClr val="tx1"/>
              </a:solidFill>
            </a:endParaRPr>
          </a:p>
          <a:p>
            <a:pPr marL="0" indent="0">
              <a:spcAft>
                <a:spcPts val="300"/>
              </a:spcAft>
              <a:buNone/>
            </a:pPr>
            <a:endParaRPr lang="en-US" sz="1500" dirty="0"/>
          </a:p>
        </p:txBody>
      </p:sp>
      <p:sp>
        <p:nvSpPr>
          <p:cNvPr id="102" name="Subtitle"/>
          <p:cNvSpPr txBox="1"/>
          <p:nvPr/>
        </p:nvSpPr>
        <p:spPr>
          <a:xfrm>
            <a:off x="548640" y="3337560"/>
            <a:ext cx="7680960" cy="365760"/>
          </a:xfrm>
          <a:prstGeom prst="rect">
            <a:avLst/>
          </a:prstGeom>
          <a:noFill/>
          <a:ln/>
        </p:spPr>
        <p:txBody>
          <a:bodyPr wrap="square" lIns="0" tIns="0" rIns="0" bIns="0" rtlCol="0" anchor="t"/>
          <a:lstStyle/>
          <a:p>
            <a:pPr marL="0" indent="0" algn="l">
              <a:buNone/>
            </a:pPr>
            <a:r>
              <a:rPr lang="en-US" sz="1600" dirty="0">
                <a:solidFill>
                  <a:schemeClr val="tx2"/>
                </a:solidFill>
              </a:rPr>
              <a:t>A file search program in C that uses multiple threads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Problem Statement</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02 / 11</a:t>
            </a:r>
            <a:endParaRPr lang="en-US" sz="1000" dirty="0"/>
          </a:p>
        </p:txBody>
      </p:sp>
      <p:sp>
        <p:nvSpPr>
          <p:cNvPr id="4" name="Card 4"/>
          <p:cNvSpPr/>
          <p:nvPr/>
        </p:nvSpPr>
        <p:spPr>
          <a:xfrm>
            <a:off x="548640" y="1371600"/>
            <a:ext cx="6126480" cy="841248"/>
          </a:xfrm>
          <a:prstGeom prst="roundRect">
            <a:avLst>
              <a:gd name="adj" fmla="val 13043"/>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Number 5"/>
          <p:cNvSpPr/>
          <p:nvPr/>
        </p:nvSpPr>
        <p:spPr>
          <a:xfrm>
            <a:off x="749808" y="1563624"/>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Point 6"/>
          <p:cNvSpPr txBox="1"/>
          <p:nvPr/>
        </p:nvSpPr>
        <p:spPr>
          <a:xfrm>
            <a:off x="1417320" y="1444752"/>
            <a:ext cx="5074920" cy="694944"/>
          </a:xfrm>
          <a:prstGeom prst="rect">
            <a:avLst/>
          </a:prstGeom>
          <a:noFill/>
          <a:ln/>
        </p:spPr>
        <p:txBody>
          <a:bodyPr wrap="square" lIns="0" tIns="0" rIns="0" bIns="0" rtlCol="0" anchor="ctr"/>
          <a:lstStyle/>
          <a:p>
            <a:pPr marL="0" indent="0" algn="l">
              <a:buNone/>
            </a:pPr>
            <a:r>
              <a:rPr lang="en-US" sz="1600" dirty="0">
                <a:solidFill>
                  <a:schemeClr val="tx1"/>
                </a:solidFill>
              </a:rPr>
              <a:t>Finding files in big folders takes a long time</a:t>
            </a:r>
            <a:endParaRPr lang="en-US" sz="1600" dirty="0"/>
          </a:p>
        </p:txBody>
      </p:sp>
      <p:sp>
        <p:nvSpPr>
          <p:cNvPr id="7" name="Card 7"/>
          <p:cNvSpPr/>
          <p:nvPr/>
        </p:nvSpPr>
        <p:spPr>
          <a:xfrm>
            <a:off x="548640" y="2368296"/>
            <a:ext cx="6126480" cy="841248"/>
          </a:xfrm>
          <a:prstGeom prst="roundRect">
            <a:avLst>
              <a:gd name="adj" fmla="val 13043"/>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8" name="Number 8"/>
          <p:cNvSpPr/>
          <p:nvPr/>
        </p:nvSpPr>
        <p:spPr>
          <a:xfrm>
            <a:off x="749808" y="2560320"/>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Point 9"/>
          <p:cNvSpPr txBox="1"/>
          <p:nvPr/>
        </p:nvSpPr>
        <p:spPr>
          <a:xfrm>
            <a:off x="1417320" y="2441448"/>
            <a:ext cx="5074920" cy="694944"/>
          </a:xfrm>
          <a:prstGeom prst="rect">
            <a:avLst/>
          </a:prstGeom>
          <a:noFill/>
          <a:ln/>
        </p:spPr>
        <p:txBody>
          <a:bodyPr wrap="square" lIns="0" tIns="0" rIns="0" bIns="0" rtlCol="0" anchor="ctr"/>
          <a:lstStyle/>
          <a:p>
            <a:pPr marL="0" indent="0" algn="l">
              <a:buNone/>
            </a:pPr>
            <a:r>
              <a:rPr lang="en-US" sz="1600" dirty="0">
                <a:solidFill>
                  <a:schemeClr val="tx1"/>
                </a:solidFill>
              </a:rPr>
              <a:t>Text search has to open and read many files</a:t>
            </a:r>
            <a:endParaRPr lang="en-US" sz="1600" dirty="0"/>
          </a:p>
        </p:txBody>
      </p:sp>
      <p:sp>
        <p:nvSpPr>
          <p:cNvPr id="10" name="Card 10"/>
          <p:cNvSpPr/>
          <p:nvPr/>
        </p:nvSpPr>
        <p:spPr>
          <a:xfrm>
            <a:off x="548640" y="3364992"/>
            <a:ext cx="6126480" cy="841248"/>
          </a:xfrm>
          <a:prstGeom prst="roundRect">
            <a:avLst>
              <a:gd name="adj" fmla="val 13043"/>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1" name="Number 11"/>
          <p:cNvSpPr/>
          <p:nvPr/>
        </p:nvSpPr>
        <p:spPr>
          <a:xfrm>
            <a:off x="749808" y="3557016"/>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Point 12"/>
          <p:cNvSpPr txBox="1"/>
          <p:nvPr/>
        </p:nvSpPr>
        <p:spPr>
          <a:xfrm>
            <a:off x="1417320" y="3438144"/>
            <a:ext cx="5074920" cy="694944"/>
          </a:xfrm>
          <a:prstGeom prst="rect">
            <a:avLst/>
          </a:prstGeom>
          <a:noFill/>
          <a:ln/>
        </p:spPr>
        <p:txBody>
          <a:bodyPr wrap="square" lIns="0" tIns="0" rIns="0" bIns="0" rtlCol="0" anchor="ctr"/>
          <a:lstStyle/>
          <a:p>
            <a:pPr marL="0" indent="0" algn="l">
              <a:buNone/>
            </a:pPr>
            <a:r>
              <a:rPr lang="en-US" sz="1600" dirty="0">
                <a:solidFill>
                  <a:schemeClr val="tx1"/>
                </a:solidFill>
              </a:rPr>
              <a:t>Searching one file at a time leaves CPU cores unused</a:t>
            </a:r>
            <a:endParaRPr lang="en-US" sz="1600" dirty="0"/>
          </a:p>
        </p:txBody>
      </p:sp>
      <p:sp>
        <p:nvSpPr>
          <p:cNvPr id="13" name="Card 13"/>
          <p:cNvSpPr/>
          <p:nvPr/>
        </p:nvSpPr>
        <p:spPr>
          <a:xfrm>
            <a:off x="548640" y="4361688"/>
            <a:ext cx="6126480" cy="841248"/>
          </a:xfrm>
          <a:prstGeom prst="roundRect">
            <a:avLst>
              <a:gd name="adj" fmla="val 13043"/>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4" name="Number 14"/>
          <p:cNvSpPr/>
          <p:nvPr/>
        </p:nvSpPr>
        <p:spPr>
          <a:xfrm>
            <a:off x="749808" y="455371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5" name="Point 15"/>
          <p:cNvSpPr txBox="1"/>
          <p:nvPr/>
        </p:nvSpPr>
        <p:spPr>
          <a:xfrm>
            <a:off x="1417320" y="4434840"/>
            <a:ext cx="5074920" cy="694944"/>
          </a:xfrm>
          <a:prstGeom prst="rect">
            <a:avLst/>
          </a:prstGeom>
          <a:noFill/>
          <a:ln/>
        </p:spPr>
        <p:txBody>
          <a:bodyPr wrap="square" lIns="0" tIns="0" rIns="0" bIns="0" rtlCol="0" anchor="ctr"/>
          <a:lstStyle/>
          <a:p>
            <a:pPr marL="0" indent="0" algn="l">
              <a:buNone/>
            </a:pPr>
            <a:r>
              <a:rPr lang="en-US" sz="1600" dirty="0">
                <a:solidFill>
                  <a:schemeClr val="tx1"/>
                </a:solidFill>
              </a:rPr>
              <a:t>Duplicate files and file filters are hard to find by hand</a:t>
            </a:r>
            <a:endParaRPr lang="en-US" sz="1600" dirty="0"/>
          </a:p>
        </p:txBody>
      </p:sp>
      <p:sp>
        <p:nvSpPr>
          <p:cNvPr id="16" name="Card 16"/>
          <p:cNvSpPr/>
          <p:nvPr/>
        </p:nvSpPr>
        <p:spPr>
          <a:xfrm>
            <a:off x="548640" y="5358384"/>
            <a:ext cx="6126480" cy="841248"/>
          </a:xfrm>
          <a:prstGeom prst="roundRect">
            <a:avLst>
              <a:gd name="adj" fmla="val 13043"/>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7" name="Number 17"/>
          <p:cNvSpPr/>
          <p:nvPr/>
        </p:nvSpPr>
        <p:spPr>
          <a:xfrm>
            <a:off x="749808" y="5550408"/>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8" name="Point 18"/>
          <p:cNvSpPr txBox="1"/>
          <p:nvPr/>
        </p:nvSpPr>
        <p:spPr>
          <a:xfrm>
            <a:off x="1417320" y="5431536"/>
            <a:ext cx="5074920" cy="694944"/>
          </a:xfrm>
          <a:prstGeom prst="rect">
            <a:avLst/>
          </a:prstGeom>
          <a:noFill/>
          <a:ln/>
        </p:spPr>
        <p:txBody>
          <a:bodyPr wrap="square" lIns="0" tIns="0" rIns="0" bIns="0" rtlCol="0" anchor="ctr"/>
          <a:lstStyle/>
          <a:p>
            <a:pPr marL="0" indent="0" algn="l">
              <a:buNone/>
            </a:pPr>
            <a:r>
              <a:rPr lang="en-US" sz="1600" dirty="0">
                <a:solidFill>
                  <a:schemeClr val="tx1"/>
                </a:solidFill>
              </a:rPr>
              <a:t>Search tasks are independent, so workers can share them</a:t>
            </a:r>
            <a:endParaRPr lang="en-US" sz="1600" dirty="0"/>
          </a:p>
        </p:txBody>
      </p:sp>
      <p:sp>
        <p:nvSpPr>
          <p:cNvPr id="19" name="Card 19"/>
          <p:cNvSpPr/>
          <p:nvPr/>
        </p:nvSpPr>
        <p:spPr>
          <a:xfrm>
            <a:off x="6949440" y="1371600"/>
            <a:ext cx="4690872" cy="4828032"/>
          </a:xfrm>
          <a:prstGeom prst="roundRect">
            <a:avLst>
              <a:gd name="adj" fmla="val 2339"/>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0" name="Label 20"/>
          <p:cNvSpPr txBox="1"/>
          <p:nvPr/>
        </p:nvSpPr>
        <p:spPr>
          <a:xfrm>
            <a:off x="7223760" y="1600200"/>
            <a:ext cx="4206240" cy="32004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One worker: slow</a:t>
            </a:r>
            <a:endParaRPr lang="en-US" sz="1600" dirty="0"/>
          </a:p>
        </p:txBody>
      </p:sp>
      <p:sp>
        <p:nvSpPr>
          <p:cNvPr id="21" name="Worker 21"/>
          <p:cNvSpPr/>
          <p:nvPr/>
        </p:nvSpPr>
        <p:spPr>
          <a:xfrm>
            <a:off x="7223760" y="2103120"/>
            <a:ext cx="1051560" cy="457200"/>
          </a:xfrm>
          <a:prstGeom prst="roundRect">
            <a:avLst>
              <a:gd name="adj" fmla="val 24000"/>
            </a:avLst>
          </a:prstGeom>
          <a:solidFill>
            <a:schemeClr val="tx1"/>
          </a:solidFill>
          <a:ln w="12700">
            <a:solidFill>
              <a:schemeClr val="tx1"/>
            </a:solidFill>
            <a:prstDash val="solid"/>
          </a:ln>
        </p:spPr>
        <p:txBody>
          <a:bodyPr wrap="square" lIns="45720" tIns="0" rIns="45720" bIns="0" rtlCol="0" anchor="ctr"/>
          <a:lstStyle/>
          <a:p>
            <a:pPr marL="0" indent="0" algn="ctr">
              <a:buNone/>
            </a:pPr>
            <a:r>
              <a:rPr lang="en-US" sz="1300" b="1" dirty="0">
                <a:solidFill>
                  <a:schemeClr val="bg1"/>
                </a:solidFill>
              </a:rPr>
              <a:t>1 worker</a:t>
            </a:r>
            <a:endParaRPr lang="en-US" sz="1300" dirty="0"/>
          </a:p>
        </p:txBody>
      </p:sp>
      <p:sp>
        <p:nvSpPr>
          <p:cNvPr id="22" name="Arrow 22"/>
          <p:cNvSpPr/>
          <p:nvPr/>
        </p:nvSpPr>
        <p:spPr>
          <a:xfrm>
            <a:off x="8339328" y="2212848"/>
            <a:ext cx="237744" cy="237744"/>
          </a:xfrm>
          <a:prstGeom prst="rightArrow">
            <a:avLst/>
          </a:prstGeom>
          <a:solidFill>
            <a:schemeClr val="accent2"/>
          </a:solidFill>
          <a:ln w="12700">
            <a:solidFill>
              <a:schemeClr val="accent2"/>
            </a:solidFill>
            <a:prstDash val="solid"/>
          </a:ln>
        </p:spPr>
      </p:sp>
      <p:sp>
        <p:nvSpPr>
          <p:cNvPr id="23" name="File 23"/>
          <p:cNvSpPr/>
          <p:nvPr/>
        </p:nvSpPr>
        <p:spPr>
          <a:xfrm>
            <a:off x="8641080" y="2103120"/>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file_1</a:t>
            </a:r>
            <a:endParaRPr lang="en-US" sz="1300" dirty="0"/>
          </a:p>
        </p:txBody>
      </p:sp>
      <p:sp>
        <p:nvSpPr>
          <p:cNvPr id="24" name="File 24"/>
          <p:cNvSpPr/>
          <p:nvPr/>
        </p:nvSpPr>
        <p:spPr>
          <a:xfrm>
            <a:off x="9573768" y="2103120"/>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file_2</a:t>
            </a:r>
            <a:endParaRPr lang="en-US" sz="1300" dirty="0"/>
          </a:p>
        </p:txBody>
      </p:sp>
      <p:sp>
        <p:nvSpPr>
          <p:cNvPr id="25" name="File 25"/>
          <p:cNvSpPr/>
          <p:nvPr/>
        </p:nvSpPr>
        <p:spPr>
          <a:xfrm>
            <a:off x="10506456" y="2103120"/>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file_3</a:t>
            </a:r>
            <a:endParaRPr lang="en-US" sz="1300" dirty="0"/>
          </a:p>
        </p:txBody>
      </p:sp>
      <p:sp>
        <p:nvSpPr>
          <p:cNvPr id="26" name="Note 26"/>
          <p:cNvSpPr txBox="1"/>
          <p:nvPr/>
        </p:nvSpPr>
        <p:spPr>
          <a:xfrm>
            <a:off x="7223760" y="2743200"/>
            <a:ext cx="4206240" cy="274320"/>
          </a:xfrm>
          <a:prstGeom prst="rect">
            <a:avLst/>
          </a:prstGeom>
          <a:noFill/>
          <a:ln/>
        </p:spPr>
        <p:txBody>
          <a:bodyPr wrap="square" lIns="0" tIns="0" rIns="0" bIns="0" rtlCol="0" anchor="t"/>
          <a:lstStyle/>
          <a:p>
            <a:pPr marL="0" indent="0" algn="l">
              <a:buNone/>
            </a:pPr>
            <a:r>
              <a:rPr lang="en-US" sz="1300" dirty="0">
                <a:solidFill>
                  <a:schemeClr val="tx2"/>
                </a:solidFill>
              </a:rPr>
              <a:t>Files are checked one after another</a:t>
            </a:r>
            <a:endParaRPr lang="en-US" sz="1300" dirty="0"/>
          </a:p>
        </p:txBody>
      </p:sp>
      <p:sp>
        <p:nvSpPr>
          <p:cNvPr id="27" name="Label 27"/>
          <p:cNvSpPr txBox="1"/>
          <p:nvPr/>
        </p:nvSpPr>
        <p:spPr>
          <a:xfrm>
            <a:off x="7223760" y="3429000"/>
            <a:ext cx="4206240" cy="32004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Many workers: faster</a:t>
            </a:r>
            <a:endParaRPr lang="en-US" sz="1600" dirty="0"/>
          </a:p>
        </p:txBody>
      </p:sp>
      <p:sp>
        <p:nvSpPr>
          <p:cNvPr id="28" name="Worker 28"/>
          <p:cNvSpPr/>
          <p:nvPr/>
        </p:nvSpPr>
        <p:spPr>
          <a:xfrm>
            <a:off x="7223760" y="3931920"/>
            <a:ext cx="1051560" cy="457200"/>
          </a:xfrm>
          <a:prstGeom prst="roundRect">
            <a:avLst>
              <a:gd name="adj" fmla="val 24000"/>
            </a:avLst>
          </a:prstGeom>
          <a:solidFill>
            <a:schemeClr val="accent3"/>
          </a:solidFill>
          <a:ln w="12700">
            <a:solidFill>
              <a:schemeClr val="accent3"/>
            </a:solidFill>
            <a:prstDash val="solid"/>
          </a:ln>
        </p:spPr>
        <p:txBody>
          <a:bodyPr wrap="square" lIns="45720" tIns="0" rIns="45720" bIns="0" rtlCol="0" anchor="ctr"/>
          <a:lstStyle/>
          <a:p>
            <a:pPr marL="0" indent="0" algn="ctr">
              <a:buNone/>
            </a:pPr>
            <a:r>
              <a:rPr lang="en-US" sz="1300" b="1" dirty="0">
                <a:solidFill>
                  <a:schemeClr val="bg1"/>
                </a:solidFill>
              </a:rPr>
              <a:t>Worker 1</a:t>
            </a:r>
            <a:endParaRPr lang="en-US" sz="1300" dirty="0"/>
          </a:p>
        </p:txBody>
      </p:sp>
      <p:sp>
        <p:nvSpPr>
          <p:cNvPr id="29" name="Arrow 29"/>
          <p:cNvSpPr/>
          <p:nvPr/>
        </p:nvSpPr>
        <p:spPr>
          <a:xfrm>
            <a:off x="8339328" y="4041648"/>
            <a:ext cx="237744" cy="237744"/>
          </a:xfrm>
          <a:prstGeom prst="rightArrow">
            <a:avLst/>
          </a:prstGeom>
          <a:solidFill>
            <a:schemeClr val="accent2"/>
          </a:solidFill>
          <a:ln w="12700">
            <a:solidFill>
              <a:schemeClr val="accent2"/>
            </a:solidFill>
            <a:prstDash val="solid"/>
          </a:ln>
        </p:spPr>
      </p:sp>
      <p:sp>
        <p:nvSpPr>
          <p:cNvPr id="30" name="File 30"/>
          <p:cNvSpPr/>
          <p:nvPr/>
        </p:nvSpPr>
        <p:spPr>
          <a:xfrm>
            <a:off x="8641080" y="3931920"/>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file_1</a:t>
            </a:r>
            <a:endParaRPr lang="en-US" sz="1300" dirty="0"/>
          </a:p>
        </p:txBody>
      </p:sp>
      <p:sp>
        <p:nvSpPr>
          <p:cNvPr id="31" name="File 31"/>
          <p:cNvSpPr/>
          <p:nvPr/>
        </p:nvSpPr>
        <p:spPr>
          <a:xfrm>
            <a:off x="9573768" y="3931920"/>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file_2</a:t>
            </a:r>
            <a:endParaRPr lang="en-US" sz="1300" dirty="0"/>
          </a:p>
        </p:txBody>
      </p:sp>
      <p:sp>
        <p:nvSpPr>
          <p:cNvPr id="32" name="Worker 32"/>
          <p:cNvSpPr/>
          <p:nvPr/>
        </p:nvSpPr>
        <p:spPr>
          <a:xfrm>
            <a:off x="7223760" y="4498848"/>
            <a:ext cx="1051560" cy="457200"/>
          </a:xfrm>
          <a:prstGeom prst="roundRect">
            <a:avLst>
              <a:gd name="adj" fmla="val 24000"/>
            </a:avLst>
          </a:prstGeom>
          <a:solidFill>
            <a:schemeClr val="accent1"/>
          </a:solidFill>
          <a:ln w="12700">
            <a:solidFill>
              <a:schemeClr val="accent1"/>
            </a:solidFill>
            <a:prstDash val="solid"/>
          </a:ln>
        </p:spPr>
        <p:txBody>
          <a:bodyPr wrap="square" lIns="45720" tIns="0" rIns="45720" bIns="0" rtlCol="0" anchor="ctr"/>
          <a:lstStyle/>
          <a:p>
            <a:pPr marL="0" indent="0" algn="ctr">
              <a:buNone/>
            </a:pPr>
            <a:r>
              <a:rPr lang="en-US" sz="1300" b="1" dirty="0">
                <a:solidFill>
                  <a:schemeClr val="bg1"/>
                </a:solidFill>
              </a:rPr>
              <a:t>Worker 2</a:t>
            </a:r>
            <a:endParaRPr lang="en-US" sz="1300" dirty="0"/>
          </a:p>
        </p:txBody>
      </p:sp>
      <p:sp>
        <p:nvSpPr>
          <p:cNvPr id="33" name="Arrow 33"/>
          <p:cNvSpPr/>
          <p:nvPr/>
        </p:nvSpPr>
        <p:spPr>
          <a:xfrm>
            <a:off x="8339328" y="4608576"/>
            <a:ext cx="237744" cy="237744"/>
          </a:xfrm>
          <a:prstGeom prst="rightArrow">
            <a:avLst/>
          </a:prstGeom>
          <a:solidFill>
            <a:schemeClr val="accent2"/>
          </a:solidFill>
          <a:ln w="12700">
            <a:solidFill>
              <a:schemeClr val="accent2"/>
            </a:solidFill>
            <a:prstDash val="solid"/>
          </a:ln>
        </p:spPr>
      </p:sp>
      <p:sp>
        <p:nvSpPr>
          <p:cNvPr id="34" name="File 34"/>
          <p:cNvSpPr/>
          <p:nvPr/>
        </p:nvSpPr>
        <p:spPr>
          <a:xfrm>
            <a:off x="8641080" y="4498848"/>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file_3</a:t>
            </a:r>
            <a:endParaRPr lang="en-US" sz="1300" dirty="0"/>
          </a:p>
        </p:txBody>
      </p:sp>
      <p:sp>
        <p:nvSpPr>
          <p:cNvPr id="35" name="File 35"/>
          <p:cNvSpPr/>
          <p:nvPr/>
        </p:nvSpPr>
        <p:spPr>
          <a:xfrm>
            <a:off x="9573768" y="4498848"/>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file_4</a:t>
            </a:r>
            <a:endParaRPr lang="en-US" sz="1300" dirty="0"/>
          </a:p>
        </p:txBody>
      </p:sp>
      <p:sp>
        <p:nvSpPr>
          <p:cNvPr id="36" name="Worker 36"/>
          <p:cNvSpPr/>
          <p:nvPr/>
        </p:nvSpPr>
        <p:spPr>
          <a:xfrm>
            <a:off x="7223760" y="5065776"/>
            <a:ext cx="1051560" cy="457200"/>
          </a:xfrm>
          <a:prstGeom prst="roundRect">
            <a:avLst>
              <a:gd name="adj" fmla="val 24000"/>
            </a:avLst>
          </a:prstGeom>
          <a:solidFill>
            <a:schemeClr val="tx1"/>
          </a:solidFill>
          <a:ln w="12700">
            <a:solidFill>
              <a:schemeClr val="tx1"/>
            </a:solidFill>
            <a:prstDash val="solid"/>
          </a:ln>
        </p:spPr>
        <p:txBody>
          <a:bodyPr wrap="square" lIns="45720" tIns="0" rIns="45720" bIns="0" rtlCol="0" anchor="ctr"/>
          <a:lstStyle/>
          <a:p>
            <a:pPr marL="0" indent="0" algn="ctr">
              <a:buNone/>
            </a:pPr>
            <a:r>
              <a:rPr lang="en-US" sz="1300" b="1" dirty="0">
                <a:solidFill>
                  <a:schemeClr val="bg1"/>
                </a:solidFill>
              </a:rPr>
              <a:t>Worker N</a:t>
            </a:r>
            <a:endParaRPr lang="en-US" sz="1300" dirty="0"/>
          </a:p>
        </p:txBody>
      </p:sp>
      <p:sp>
        <p:nvSpPr>
          <p:cNvPr id="37" name="Arrow 37"/>
          <p:cNvSpPr/>
          <p:nvPr/>
        </p:nvSpPr>
        <p:spPr>
          <a:xfrm>
            <a:off x="8339328" y="5175504"/>
            <a:ext cx="237744" cy="237744"/>
          </a:xfrm>
          <a:prstGeom prst="rightArrow">
            <a:avLst/>
          </a:prstGeom>
          <a:solidFill>
            <a:schemeClr val="accent2"/>
          </a:solidFill>
          <a:ln w="12700">
            <a:solidFill>
              <a:schemeClr val="accent2"/>
            </a:solidFill>
            <a:prstDash val="solid"/>
          </a:ln>
        </p:spPr>
      </p:sp>
      <p:sp>
        <p:nvSpPr>
          <p:cNvPr id="38" name="File 38"/>
          <p:cNvSpPr/>
          <p:nvPr/>
        </p:nvSpPr>
        <p:spPr>
          <a:xfrm>
            <a:off x="8641080" y="5065776"/>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file_5</a:t>
            </a:r>
            <a:endParaRPr lang="en-US" sz="1300" dirty="0"/>
          </a:p>
        </p:txBody>
      </p:sp>
      <p:sp>
        <p:nvSpPr>
          <p:cNvPr id="39" name="File 39"/>
          <p:cNvSpPr/>
          <p:nvPr/>
        </p:nvSpPr>
        <p:spPr>
          <a:xfrm>
            <a:off x="9573768" y="5065776"/>
            <a:ext cx="841248" cy="457200"/>
          </a:xfrm>
          <a:prstGeom prst="roundRect">
            <a:avLst>
              <a:gd name="adj" fmla="val 24000"/>
            </a:avLst>
          </a:prstGeom>
          <a:solidFill>
            <a:schemeClr val="bg1"/>
          </a:solidFill>
          <a:ln w="12700">
            <a:solidFill>
              <a:schemeClr val="accent4"/>
            </a:solidFill>
            <a:prstDash val="solid"/>
          </a:ln>
        </p:spPr>
        <p:txBody>
          <a:bodyPr wrap="square" lIns="45720" tIns="0" rIns="45720" bIns="0" rtlCol="0" anchor="ctr"/>
          <a:lstStyle/>
          <a:p>
            <a:pPr marL="0" indent="0" algn="ctr">
              <a:buNone/>
            </a:pPr>
            <a:r>
              <a:rPr lang="en-US" sz="1300" dirty="0">
                <a:solidFill>
                  <a:schemeClr val="tx2"/>
                </a:solidFill>
              </a:rPr>
              <a:t>file_6</a:t>
            </a:r>
            <a:endParaRPr lang="en-US" sz="1300" dirty="0"/>
          </a:p>
        </p:txBody>
      </p:sp>
      <p:sp>
        <p:nvSpPr>
          <p:cNvPr id="40" name="Note 40"/>
          <p:cNvSpPr txBox="1"/>
          <p:nvPr/>
        </p:nvSpPr>
        <p:spPr>
          <a:xfrm>
            <a:off x="7223760" y="5669280"/>
            <a:ext cx="4206240" cy="274320"/>
          </a:xfrm>
          <a:prstGeom prst="rect">
            <a:avLst/>
          </a:prstGeom>
          <a:noFill/>
          <a:ln/>
        </p:spPr>
        <p:txBody>
          <a:bodyPr wrap="square" lIns="0" tIns="0" rIns="0" bIns="0" rtlCol="0" anchor="t"/>
          <a:lstStyle/>
          <a:p>
            <a:pPr marL="0" indent="0" algn="l">
              <a:buNone/>
            </a:pPr>
            <a:r>
              <a:rPr lang="en-US" sz="1300" dirty="0">
                <a:solidFill>
                  <a:schemeClr val="tx2"/>
                </a:solidFill>
              </a:rPr>
              <a:t>Tasks are shared from one common list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Technologies Used</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03 / 11</a:t>
            </a:r>
            <a:endParaRPr lang="en-US" sz="1000" dirty="0"/>
          </a:p>
        </p:txBody>
      </p:sp>
      <p:sp>
        <p:nvSpPr>
          <p:cNvPr id="4" name="Card 4"/>
          <p:cNvSpPr/>
          <p:nvPr/>
        </p:nvSpPr>
        <p:spPr>
          <a:xfrm>
            <a:off x="548640" y="137160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Number 5"/>
          <p:cNvSpPr/>
          <p:nvPr/>
        </p:nvSpPr>
        <p:spPr>
          <a:xfrm>
            <a:off x="822960" y="1645920"/>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Heading 6"/>
          <p:cNvSpPr txBox="1"/>
          <p:nvPr/>
        </p:nvSpPr>
        <p:spPr>
          <a:xfrm>
            <a:off x="1554480" y="1664208"/>
            <a:ext cx="4206240" cy="45720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Language and Build</a:t>
            </a:r>
            <a:endParaRPr lang="en-US" sz="1900" dirty="0"/>
          </a:p>
        </p:txBody>
      </p:sp>
      <p:sp>
        <p:nvSpPr>
          <p:cNvPr id="7" name="Body 7"/>
          <p:cNvSpPr txBox="1"/>
          <p:nvPr/>
        </p:nvSpPr>
        <p:spPr>
          <a:xfrm>
            <a:off x="822960" y="2286000"/>
            <a:ext cx="4937760" cy="1280160"/>
          </a:xfrm>
          <a:prstGeom prst="rect">
            <a:avLst/>
          </a:prstGeom>
          <a:noFill/>
          <a:ln/>
        </p:spPr>
        <p:txBody>
          <a:bodyPr wrap="square" lIns="0" tIns="0" rIns="0" bIns="0" rtlCol="0" anchor="t"/>
          <a:lstStyle/>
          <a:p>
            <a:pPr marL="285750" indent="-285750" algn="l">
              <a:spcAft>
                <a:spcPts val="500"/>
              </a:spcAft>
              <a:buSzPct val="100000"/>
              <a:buChar char="•"/>
            </a:pPr>
            <a:r>
              <a:rPr lang="en-US" sz="1450" b="1" dirty="0">
                <a:solidFill>
                  <a:schemeClr val="tx1"/>
                </a:solidFill>
              </a:rPr>
              <a:t>C Programming Language: </a:t>
            </a:r>
            <a:r>
              <a:rPr lang="en-US" sz="1450" dirty="0">
                <a:solidFill>
                  <a:schemeClr val="tx2"/>
                </a:solidFill>
              </a:rPr>
              <a:t>used to write the program</a:t>
            </a:r>
            <a:endParaRPr lang="en-US" sz="1450" dirty="0"/>
          </a:p>
          <a:p>
            <a:pPr marL="285750" indent="-285750" algn="l">
              <a:spcAft>
                <a:spcPts val="500"/>
              </a:spcAft>
              <a:buSzPct val="100000"/>
              <a:buChar char="•"/>
            </a:pPr>
            <a:r>
              <a:rPr lang="en-US" sz="1450" b="1" dirty="0">
                <a:solidFill>
                  <a:schemeClr val="tx1"/>
                </a:solidFill>
              </a:rPr>
              <a:t>GCC and Make: </a:t>
            </a:r>
            <a:r>
              <a:rPr lang="en-US" sz="1450" dirty="0">
                <a:solidFill>
                  <a:schemeClr val="tx2"/>
                </a:solidFill>
              </a:rPr>
              <a:t>compile and build the program</a:t>
            </a:r>
            <a:endParaRPr lang="en-US" sz="1450" dirty="0"/>
          </a:p>
        </p:txBody>
      </p:sp>
      <p:sp>
        <p:nvSpPr>
          <p:cNvPr id="8" name="Card 8"/>
          <p:cNvSpPr/>
          <p:nvPr/>
        </p:nvSpPr>
        <p:spPr>
          <a:xfrm>
            <a:off x="6199632" y="137160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9" name="Number 9"/>
          <p:cNvSpPr/>
          <p:nvPr/>
        </p:nvSpPr>
        <p:spPr>
          <a:xfrm>
            <a:off x="6473952" y="1645920"/>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Heading 10"/>
          <p:cNvSpPr txBox="1"/>
          <p:nvPr/>
        </p:nvSpPr>
        <p:spPr>
          <a:xfrm>
            <a:off x="7205472" y="1664208"/>
            <a:ext cx="4206240" cy="45720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Threads</a:t>
            </a:r>
            <a:endParaRPr lang="en-US" sz="1900" dirty="0"/>
          </a:p>
        </p:txBody>
      </p:sp>
      <p:sp>
        <p:nvSpPr>
          <p:cNvPr id="11" name="Body 11"/>
          <p:cNvSpPr txBox="1"/>
          <p:nvPr/>
        </p:nvSpPr>
        <p:spPr>
          <a:xfrm>
            <a:off x="6473952" y="2286000"/>
            <a:ext cx="4937760" cy="1280160"/>
          </a:xfrm>
          <a:prstGeom prst="rect">
            <a:avLst/>
          </a:prstGeom>
          <a:noFill/>
          <a:ln/>
        </p:spPr>
        <p:txBody>
          <a:bodyPr wrap="square" lIns="0" tIns="0" rIns="0" bIns="0" rtlCol="0" anchor="t"/>
          <a:lstStyle/>
          <a:p>
            <a:pPr marL="285750" indent="-285750" algn="l">
              <a:spcAft>
                <a:spcPts val="500"/>
              </a:spcAft>
              <a:buSzPct val="100000"/>
              <a:buChar char="•"/>
            </a:pPr>
            <a:r>
              <a:rPr lang="en-US" sz="1450" b="1" dirty="0">
                <a:solidFill>
                  <a:schemeClr val="tx1"/>
                </a:solidFill>
              </a:rPr>
              <a:t>POSIX Threads (pthread): </a:t>
            </a:r>
            <a:r>
              <a:rPr lang="en-US" sz="1450" dirty="0">
                <a:solidFill>
                  <a:schemeClr val="tx2"/>
                </a:solidFill>
              </a:rPr>
              <a:t>runs many threads at once</a:t>
            </a:r>
            <a:endParaRPr lang="en-US" sz="1450" dirty="0"/>
          </a:p>
          <a:p>
            <a:pPr marL="285750" indent="-285750" algn="l">
              <a:spcAft>
                <a:spcPts val="500"/>
              </a:spcAft>
              <a:buSzPct val="100000"/>
              <a:buChar char="•"/>
            </a:pPr>
            <a:r>
              <a:rPr lang="en-US" sz="1450" b="1" dirty="0">
                <a:solidFill>
                  <a:schemeClr val="tx1"/>
                </a:solidFill>
              </a:rPr>
              <a:t>Mutex (pthread_mutex_t): </a:t>
            </a:r>
            <a:r>
              <a:rPr lang="en-US" sz="1450" dirty="0">
                <a:solidFill>
                  <a:schemeClr val="tx2"/>
                </a:solidFill>
              </a:rPr>
              <a:t>a lock that protects shared data</a:t>
            </a:r>
            <a:endParaRPr lang="en-US" sz="1450" dirty="0"/>
          </a:p>
          <a:p>
            <a:pPr marL="285750" indent="-285750" algn="l">
              <a:spcAft>
                <a:spcPts val="500"/>
              </a:spcAft>
              <a:buSzPct val="100000"/>
              <a:buChar char="•"/>
            </a:pPr>
            <a:r>
              <a:rPr lang="en-US" sz="1450" b="1" dirty="0">
                <a:solidFill>
                  <a:schemeClr val="tx1"/>
                </a:solidFill>
              </a:rPr>
              <a:t>Condition variable (pthread_cond_t): </a:t>
            </a:r>
            <a:r>
              <a:rPr lang="en-US" sz="1450" dirty="0">
                <a:solidFill>
                  <a:schemeClr val="tx2"/>
                </a:solidFill>
              </a:rPr>
              <a:t>lets threads wait for tasks</a:t>
            </a:r>
            <a:endParaRPr lang="en-US" sz="1450" dirty="0"/>
          </a:p>
        </p:txBody>
      </p:sp>
      <p:sp>
        <p:nvSpPr>
          <p:cNvPr id="12" name="Card 12"/>
          <p:cNvSpPr/>
          <p:nvPr/>
        </p:nvSpPr>
        <p:spPr>
          <a:xfrm>
            <a:off x="548640" y="384048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3" name="Number 13"/>
          <p:cNvSpPr/>
          <p:nvPr/>
        </p:nvSpPr>
        <p:spPr>
          <a:xfrm>
            <a:off x="822960" y="4114800"/>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Heading 14"/>
          <p:cNvSpPr txBox="1"/>
          <p:nvPr/>
        </p:nvSpPr>
        <p:spPr>
          <a:xfrm>
            <a:off x="1554480" y="4133088"/>
            <a:ext cx="4206240" cy="45720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Folder and File Functions</a:t>
            </a:r>
            <a:endParaRPr lang="en-US" sz="1900" dirty="0"/>
          </a:p>
        </p:txBody>
      </p:sp>
      <p:sp>
        <p:nvSpPr>
          <p:cNvPr id="15" name="Body 15"/>
          <p:cNvSpPr txBox="1"/>
          <p:nvPr/>
        </p:nvSpPr>
        <p:spPr>
          <a:xfrm>
            <a:off x="822960" y="4754880"/>
            <a:ext cx="4937760" cy="1280160"/>
          </a:xfrm>
          <a:prstGeom prst="rect">
            <a:avLst/>
          </a:prstGeom>
          <a:noFill/>
          <a:ln/>
        </p:spPr>
        <p:txBody>
          <a:bodyPr wrap="square" lIns="0" tIns="0" rIns="0" bIns="0" rtlCol="0" anchor="t"/>
          <a:lstStyle/>
          <a:p>
            <a:pPr marL="285750" indent="-285750" algn="l">
              <a:spcAft>
                <a:spcPts val="500"/>
              </a:spcAft>
              <a:buSzPct val="100000"/>
              <a:buChar char="•"/>
            </a:pPr>
            <a:r>
              <a:rPr lang="en-US" sz="1450" b="1" dirty="0">
                <a:solidFill>
                  <a:schemeClr val="tx1"/>
                </a:solidFill>
              </a:rPr>
              <a:t>opendir() / readdir(): </a:t>
            </a:r>
            <a:r>
              <a:rPr lang="en-US" sz="1450" dirty="0">
                <a:solidFill>
                  <a:schemeClr val="tx2"/>
                </a:solidFill>
              </a:rPr>
              <a:t>read the files inside a folder</a:t>
            </a:r>
            <a:endParaRPr lang="en-US" sz="1450" dirty="0"/>
          </a:p>
          <a:p>
            <a:pPr marL="285750" indent="-285750" algn="l">
              <a:spcAft>
                <a:spcPts val="500"/>
              </a:spcAft>
              <a:buSzPct val="100000"/>
              <a:buChar char="•"/>
            </a:pPr>
            <a:r>
              <a:rPr lang="en-US" sz="1450" b="1" dirty="0">
                <a:solidFill>
                  <a:schemeClr val="tx1"/>
                </a:solidFill>
              </a:rPr>
              <a:t>stat() / lstat(): </a:t>
            </a:r>
            <a:r>
              <a:rPr lang="en-US" sz="1450" dirty="0">
                <a:solidFill>
                  <a:schemeClr val="tx2"/>
                </a:solidFill>
              </a:rPr>
              <a:t>get file details and find shortcuts (symbolic links)</a:t>
            </a:r>
            <a:endParaRPr lang="en-US" sz="1450" dirty="0"/>
          </a:p>
        </p:txBody>
      </p:sp>
      <p:sp>
        <p:nvSpPr>
          <p:cNvPr id="16" name="Card 16"/>
          <p:cNvSpPr/>
          <p:nvPr/>
        </p:nvSpPr>
        <p:spPr>
          <a:xfrm>
            <a:off x="6199632" y="3840480"/>
            <a:ext cx="5440680" cy="2286000"/>
          </a:xfrm>
          <a:prstGeom prst="roundRect">
            <a:avLst>
              <a:gd name="adj" fmla="val 48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7" name="Number 17"/>
          <p:cNvSpPr/>
          <p:nvPr/>
        </p:nvSpPr>
        <p:spPr>
          <a:xfrm>
            <a:off x="6473952" y="4114800"/>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Heading 18"/>
          <p:cNvSpPr txBox="1"/>
          <p:nvPr/>
        </p:nvSpPr>
        <p:spPr>
          <a:xfrm>
            <a:off x="7205472" y="4133088"/>
            <a:ext cx="4206240" cy="45720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Platform</a:t>
            </a:r>
            <a:endParaRPr lang="en-US" sz="1900" dirty="0"/>
          </a:p>
        </p:txBody>
      </p:sp>
      <p:sp>
        <p:nvSpPr>
          <p:cNvPr id="19" name="Body 19"/>
          <p:cNvSpPr txBox="1"/>
          <p:nvPr/>
        </p:nvSpPr>
        <p:spPr>
          <a:xfrm>
            <a:off x="6473952" y="4754880"/>
            <a:ext cx="4937760" cy="1280160"/>
          </a:xfrm>
          <a:prstGeom prst="rect">
            <a:avLst/>
          </a:prstGeom>
          <a:noFill/>
          <a:ln/>
        </p:spPr>
        <p:txBody>
          <a:bodyPr wrap="square" lIns="0" tIns="0" rIns="0" bIns="0" rtlCol="0" anchor="t"/>
          <a:lstStyle/>
          <a:p>
            <a:pPr marL="285750" indent="-285750" algn="l">
              <a:spcAft>
                <a:spcPts val="500"/>
              </a:spcAft>
              <a:buSzPct val="100000"/>
              <a:buChar char="•"/>
            </a:pPr>
            <a:r>
              <a:rPr lang="en-US" sz="1450" b="1" dirty="0">
                <a:solidFill>
                  <a:schemeClr val="tx1"/>
                </a:solidFill>
              </a:rPr>
              <a:t>Ubuntu Linux: </a:t>
            </a:r>
            <a:r>
              <a:rPr lang="en-US" sz="1450" dirty="0">
                <a:solidFill>
                  <a:schemeClr val="tx2"/>
                </a:solidFill>
              </a:rPr>
              <a:t>used to build and run the program</a:t>
            </a:r>
            <a:endParaRPr lang="en-US" sz="1450" dirty="0"/>
          </a:p>
          <a:p>
            <a:pPr marL="285750" indent="-285750" algn="l">
              <a:spcAft>
                <a:spcPts val="500"/>
              </a:spcAft>
              <a:buSzPct val="100000"/>
              <a:buChar char="•"/>
            </a:pPr>
            <a:r>
              <a:rPr lang="en-US" sz="1450" b="1" dirty="0">
                <a:solidFill>
                  <a:schemeClr val="tx1"/>
                </a:solidFill>
              </a:rPr>
              <a:t>WSL: </a:t>
            </a:r>
            <a:r>
              <a:rPr lang="en-US" sz="1450" dirty="0">
                <a:solidFill>
                  <a:schemeClr val="tx2"/>
                </a:solidFill>
              </a:rPr>
              <a:t>runs Linux on Windows; Windows files are at /mnt/c</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System Architecture</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04 / 11</a:t>
            </a:r>
            <a:endParaRPr lang="en-US" sz="1000" dirty="0"/>
          </a:p>
        </p:txBody>
      </p:sp>
      <p:sp>
        <p:nvSpPr>
          <p:cNvPr id="4" name="Card 4"/>
          <p:cNvSpPr/>
          <p:nvPr/>
        </p:nvSpPr>
        <p:spPr>
          <a:xfrm>
            <a:off x="548640" y="1371600"/>
            <a:ext cx="5669280" cy="4828032"/>
          </a:xfrm>
          <a:prstGeom prst="roundRect">
            <a:avLst>
              <a:gd name="adj" fmla="val 2272"/>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Box 5"/>
          <p:cNvSpPr/>
          <p:nvPr/>
        </p:nvSpPr>
        <p:spPr>
          <a:xfrm>
            <a:off x="1371600" y="1536192"/>
            <a:ext cx="4023360" cy="457200"/>
          </a:xfrm>
          <a:prstGeom prst="roundRect">
            <a:avLst>
              <a:gd name="adj" fmla="val 24000"/>
            </a:avLst>
          </a:prstGeom>
          <a:solidFill>
            <a:schemeClr val="tx1"/>
          </a:solidFill>
          <a:ln w="12700">
            <a:solidFill>
              <a:schemeClr val="tx1"/>
            </a:solidFill>
            <a:prstDash val="solid"/>
          </a:ln>
        </p:spPr>
        <p:txBody>
          <a:bodyPr wrap="square" lIns="45720" tIns="0" rIns="45720" bIns="0" rtlCol="0" anchor="ctr"/>
          <a:lstStyle/>
          <a:p>
            <a:pPr marL="0" indent="0" algn="ctr">
              <a:buNone/>
            </a:pPr>
            <a:r>
              <a:rPr lang="en-US" sz="1500" b="1" dirty="0">
                <a:solidFill>
                  <a:schemeClr val="bg1"/>
                </a:solidFill>
              </a:rPr>
              <a:t>User Menu</a:t>
            </a:r>
            <a:endParaRPr lang="en-US" sz="1500" dirty="0"/>
          </a:p>
        </p:txBody>
      </p:sp>
      <p:sp>
        <p:nvSpPr>
          <p:cNvPr id="6" name="Arrow 6"/>
          <p:cNvSpPr/>
          <p:nvPr/>
        </p:nvSpPr>
        <p:spPr>
          <a:xfrm>
            <a:off x="3264408" y="2002536"/>
            <a:ext cx="237744" cy="164592"/>
          </a:xfrm>
          <a:prstGeom prst="downArrow">
            <a:avLst/>
          </a:prstGeom>
          <a:solidFill>
            <a:schemeClr val="accent2"/>
          </a:solidFill>
          <a:ln w="12700">
            <a:solidFill>
              <a:schemeClr val="accent2"/>
            </a:solidFill>
            <a:prstDash val="solid"/>
          </a:ln>
        </p:spPr>
      </p:sp>
      <p:sp>
        <p:nvSpPr>
          <p:cNvPr id="7" name="Box 7"/>
          <p:cNvSpPr/>
          <p:nvPr/>
        </p:nvSpPr>
        <p:spPr>
          <a:xfrm>
            <a:off x="1371600" y="2176272"/>
            <a:ext cx="4023360" cy="457200"/>
          </a:xfrm>
          <a:prstGeom prst="roundRect">
            <a:avLst>
              <a:gd name="adj" fmla="val 24000"/>
            </a:avLst>
          </a:prstGeom>
          <a:solidFill>
            <a:schemeClr val="accent3"/>
          </a:solidFill>
          <a:ln w="12700">
            <a:solidFill>
              <a:schemeClr val="accent3"/>
            </a:solidFill>
            <a:prstDash val="solid"/>
          </a:ln>
        </p:spPr>
        <p:txBody>
          <a:bodyPr wrap="square" lIns="45720" tIns="0" rIns="45720" bIns="0" rtlCol="0" anchor="ctr"/>
          <a:lstStyle/>
          <a:p>
            <a:pPr marL="0" indent="0" algn="ctr">
              <a:buNone/>
            </a:pPr>
            <a:r>
              <a:rPr lang="en-US" sz="1500" b="1" dirty="0">
                <a:solidFill>
                  <a:schemeClr val="bg1"/>
                </a:solidFill>
              </a:rPr>
              <a:t>Main Search Function</a:t>
            </a:r>
            <a:endParaRPr lang="en-US" sz="1500" dirty="0"/>
          </a:p>
        </p:txBody>
      </p:sp>
      <p:sp>
        <p:nvSpPr>
          <p:cNvPr id="8" name="Arrow 8"/>
          <p:cNvSpPr/>
          <p:nvPr/>
        </p:nvSpPr>
        <p:spPr>
          <a:xfrm>
            <a:off x="3264408" y="2642616"/>
            <a:ext cx="237744" cy="164592"/>
          </a:xfrm>
          <a:prstGeom prst="downArrow">
            <a:avLst/>
          </a:prstGeom>
          <a:solidFill>
            <a:schemeClr val="accent2"/>
          </a:solidFill>
          <a:ln w="12700">
            <a:solidFill>
              <a:schemeClr val="accent2"/>
            </a:solidFill>
            <a:prstDash val="solid"/>
          </a:ln>
        </p:spPr>
      </p:sp>
      <p:sp>
        <p:nvSpPr>
          <p:cNvPr id="9" name="Box 9"/>
          <p:cNvSpPr/>
          <p:nvPr/>
        </p:nvSpPr>
        <p:spPr>
          <a:xfrm>
            <a:off x="1371600" y="2816352"/>
            <a:ext cx="4023360" cy="457200"/>
          </a:xfrm>
          <a:prstGeom prst="roundRect">
            <a:avLst>
              <a:gd name="adj" fmla="val 24000"/>
            </a:avLst>
          </a:prstGeom>
          <a:solidFill>
            <a:schemeClr val="accent1"/>
          </a:solidFill>
          <a:ln w="12700">
            <a:solidFill>
              <a:schemeClr val="accent1"/>
            </a:solidFill>
            <a:prstDash val="solid"/>
          </a:ln>
        </p:spPr>
        <p:txBody>
          <a:bodyPr wrap="square" lIns="45720" tIns="0" rIns="45720" bIns="0" rtlCol="0" anchor="ctr"/>
          <a:lstStyle/>
          <a:p>
            <a:pPr marL="0" indent="0" algn="ctr">
              <a:buNone/>
            </a:pPr>
            <a:r>
              <a:rPr lang="en-US" sz="1500" b="1" dirty="0">
                <a:solidFill>
                  <a:schemeClr val="bg1"/>
                </a:solidFill>
              </a:rPr>
              <a:t>Shared Task List</a:t>
            </a:r>
            <a:endParaRPr lang="en-US" sz="1500" dirty="0"/>
          </a:p>
        </p:txBody>
      </p:sp>
      <p:sp>
        <p:nvSpPr>
          <p:cNvPr id="10" name="Arrow 10"/>
          <p:cNvSpPr/>
          <p:nvPr/>
        </p:nvSpPr>
        <p:spPr>
          <a:xfrm>
            <a:off x="3264408" y="3282696"/>
            <a:ext cx="237744" cy="164592"/>
          </a:xfrm>
          <a:prstGeom prst="downArrow">
            <a:avLst/>
          </a:prstGeom>
          <a:solidFill>
            <a:schemeClr val="accent2"/>
          </a:solidFill>
          <a:ln w="12700">
            <a:solidFill>
              <a:schemeClr val="accent2"/>
            </a:solidFill>
            <a:prstDash val="solid"/>
          </a:ln>
        </p:spPr>
      </p:sp>
      <p:sp>
        <p:nvSpPr>
          <p:cNvPr id="11" name="Worker 11"/>
          <p:cNvSpPr/>
          <p:nvPr/>
        </p:nvSpPr>
        <p:spPr>
          <a:xfrm>
            <a:off x="1371600" y="3456432"/>
            <a:ext cx="1280160" cy="457200"/>
          </a:xfrm>
          <a:prstGeom prst="roundRect">
            <a:avLst>
              <a:gd name="adj" fmla="val 24000"/>
            </a:avLst>
          </a:prstGeom>
          <a:solidFill>
            <a:schemeClr val="accent2"/>
          </a:solidFill>
          <a:ln w="12700">
            <a:solidFill>
              <a:schemeClr val="accent2"/>
            </a:solidFill>
            <a:prstDash val="solid"/>
          </a:ln>
        </p:spPr>
        <p:txBody>
          <a:bodyPr wrap="square" lIns="45720" tIns="0" rIns="45720" bIns="0" rtlCol="0" anchor="ctr"/>
          <a:lstStyle/>
          <a:p>
            <a:pPr marL="0" indent="0" algn="ctr">
              <a:buNone/>
            </a:pPr>
            <a:r>
              <a:rPr lang="en-US" sz="1200" b="1" dirty="0">
                <a:solidFill>
                  <a:schemeClr val="tx1"/>
                </a:solidFill>
              </a:rPr>
              <a:t>Worker Thread 1</a:t>
            </a:r>
            <a:endParaRPr lang="en-US" sz="1200" dirty="0"/>
          </a:p>
        </p:txBody>
      </p:sp>
      <p:sp>
        <p:nvSpPr>
          <p:cNvPr id="12" name="Worker 12"/>
          <p:cNvSpPr/>
          <p:nvPr/>
        </p:nvSpPr>
        <p:spPr>
          <a:xfrm>
            <a:off x="2743200" y="3456432"/>
            <a:ext cx="1280160" cy="457200"/>
          </a:xfrm>
          <a:prstGeom prst="roundRect">
            <a:avLst>
              <a:gd name="adj" fmla="val 24000"/>
            </a:avLst>
          </a:prstGeom>
          <a:solidFill>
            <a:schemeClr val="accent2"/>
          </a:solidFill>
          <a:ln w="12700">
            <a:solidFill>
              <a:schemeClr val="accent2"/>
            </a:solidFill>
            <a:prstDash val="solid"/>
          </a:ln>
        </p:spPr>
        <p:txBody>
          <a:bodyPr wrap="square" lIns="45720" tIns="0" rIns="45720" bIns="0" rtlCol="0" anchor="ctr"/>
          <a:lstStyle/>
          <a:p>
            <a:pPr marL="0" indent="0" algn="ctr">
              <a:buNone/>
            </a:pPr>
            <a:r>
              <a:rPr lang="en-US" sz="1200" b="1" dirty="0">
                <a:solidFill>
                  <a:schemeClr val="tx1"/>
                </a:solidFill>
              </a:rPr>
              <a:t>Worker Thread 2</a:t>
            </a:r>
            <a:endParaRPr lang="en-US" sz="1200" dirty="0"/>
          </a:p>
        </p:txBody>
      </p:sp>
      <p:sp>
        <p:nvSpPr>
          <p:cNvPr id="13" name="Worker 13"/>
          <p:cNvSpPr/>
          <p:nvPr/>
        </p:nvSpPr>
        <p:spPr>
          <a:xfrm>
            <a:off x="4114800" y="3456432"/>
            <a:ext cx="1280160" cy="457200"/>
          </a:xfrm>
          <a:prstGeom prst="roundRect">
            <a:avLst>
              <a:gd name="adj" fmla="val 24000"/>
            </a:avLst>
          </a:prstGeom>
          <a:solidFill>
            <a:schemeClr val="accent2"/>
          </a:solidFill>
          <a:ln w="12700">
            <a:solidFill>
              <a:schemeClr val="accent2"/>
            </a:solidFill>
            <a:prstDash val="solid"/>
          </a:ln>
        </p:spPr>
        <p:txBody>
          <a:bodyPr wrap="square" lIns="45720" tIns="0" rIns="45720" bIns="0" rtlCol="0" anchor="ctr"/>
          <a:lstStyle/>
          <a:p>
            <a:pPr marL="0" indent="0" algn="ctr">
              <a:buNone/>
            </a:pPr>
            <a:r>
              <a:rPr lang="en-US" sz="1200" b="1" dirty="0">
                <a:solidFill>
                  <a:schemeClr val="tx1"/>
                </a:solidFill>
              </a:rPr>
              <a:t>Worker Thread N</a:t>
            </a:r>
            <a:endParaRPr lang="en-US" sz="1200" dirty="0"/>
          </a:p>
        </p:txBody>
      </p:sp>
      <p:sp>
        <p:nvSpPr>
          <p:cNvPr id="14" name="Arrow 14"/>
          <p:cNvSpPr/>
          <p:nvPr/>
        </p:nvSpPr>
        <p:spPr>
          <a:xfrm>
            <a:off x="3264408" y="3922776"/>
            <a:ext cx="237744" cy="164592"/>
          </a:xfrm>
          <a:prstGeom prst="downArrow">
            <a:avLst/>
          </a:prstGeom>
          <a:solidFill>
            <a:schemeClr val="accent2"/>
          </a:solidFill>
          <a:ln w="12700">
            <a:solidFill>
              <a:schemeClr val="accent2"/>
            </a:solidFill>
            <a:prstDash val="solid"/>
          </a:ln>
        </p:spPr>
      </p:sp>
      <p:sp>
        <p:nvSpPr>
          <p:cNvPr id="15" name="Box 15"/>
          <p:cNvSpPr/>
          <p:nvPr/>
        </p:nvSpPr>
        <p:spPr>
          <a:xfrm>
            <a:off x="1371600" y="4096512"/>
            <a:ext cx="4023360" cy="457200"/>
          </a:xfrm>
          <a:prstGeom prst="roundRect">
            <a:avLst>
              <a:gd name="adj" fmla="val 24000"/>
            </a:avLst>
          </a:prstGeom>
          <a:solidFill>
            <a:schemeClr val="accent3"/>
          </a:solidFill>
          <a:ln w="12700">
            <a:solidFill>
              <a:schemeClr val="accent3"/>
            </a:solidFill>
            <a:prstDash val="solid"/>
          </a:ln>
        </p:spPr>
        <p:txBody>
          <a:bodyPr wrap="square" lIns="45720" tIns="0" rIns="45720" bIns="0" rtlCol="0" anchor="ctr"/>
          <a:lstStyle/>
          <a:p>
            <a:pPr marL="0" indent="0" algn="ctr">
              <a:buNone/>
            </a:pPr>
            <a:r>
              <a:rPr lang="en-US" sz="1500" b="1" dirty="0">
                <a:solidFill>
                  <a:schemeClr val="bg1"/>
                </a:solidFill>
              </a:rPr>
              <a:t>File and Folder Search</a:t>
            </a:r>
            <a:endParaRPr lang="en-US" sz="1500" dirty="0"/>
          </a:p>
        </p:txBody>
      </p:sp>
      <p:sp>
        <p:nvSpPr>
          <p:cNvPr id="16" name="Arrow 16"/>
          <p:cNvSpPr/>
          <p:nvPr/>
        </p:nvSpPr>
        <p:spPr>
          <a:xfrm>
            <a:off x="3264408" y="4562856"/>
            <a:ext cx="237744" cy="164592"/>
          </a:xfrm>
          <a:prstGeom prst="downArrow">
            <a:avLst/>
          </a:prstGeom>
          <a:solidFill>
            <a:schemeClr val="accent2"/>
          </a:solidFill>
          <a:ln w="12700">
            <a:solidFill>
              <a:schemeClr val="accent2"/>
            </a:solidFill>
            <a:prstDash val="solid"/>
          </a:ln>
        </p:spPr>
      </p:sp>
      <p:sp>
        <p:nvSpPr>
          <p:cNvPr id="17" name="Box 17"/>
          <p:cNvSpPr/>
          <p:nvPr/>
        </p:nvSpPr>
        <p:spPr>
          <a:xfrm>
            <a:off x="1371600" y="4736592"/>
            <a:ext cx="4023360" cy="457200"/>
          </a:xfrm>
          <a:prstGeom prst="roundRect">
            <a:avLst>
              <a:gd name="adj" fmla="val 24000"/>
            </a:avLst>
          </a:prstGeom>
          <a:solidFill>
            <a:schemeClr val="accent1"/>
          </a:solidFill>
          <a:ln w="12700">
            <a:solidFill>
              <a:schemeClr val="accent1"/>
            </a:solidFill>
            <a:prstDash val="solid"/>
          </a:ln>
        </p:spPr>
        <p:txBody>
          <a:bodyPr wrap="square" lIns="45720" tIns="0" rIns="45720" bIns="0" rtlCol="0" anchor="ctr"/>
          <a:lstStyle/>
          <a:p>
            <a:pPr marL="0" indent="0" algn="ctr">
              <a:buNone/>
            </a:pPr>
            <a:r>
              <a:rPr lang="en-US" sz="1500" b="1" dirty="0">
                <a:solidFill>
                  <a:schemeClr val="bg1"/>
                </a:solidFill>
              </a:rPr>
              <a:t>Results and Statistics</a:t>
            </a:r>
            <a:endParaRPr lang="en-US" sz="1500" dirty="0"/>
          </a:p>
        </p:txBody>
      </p:sp>
      <p:sp>
        <p:nvSpPr>
          <p:cNvPr id="18" name="Arrow 18"/>
          <p:cNvSpPr/>
          <p:nvPr/>
        </p:nvSpPr>
        <p:spPr>
          <a:xfrm>
            <a:off x="3264408" y="5202936"/>
            <a:ext cx="237744" cy="164592"/>
          </a:xfrm>
          <a:prstGeom prst="downArrow">
            <a:avLst/>
          </a:prstGeom>
          <a:solidFill>
            <a:schemeClr val="accent2"/>
          </a:solidFill>
          <a:ln w="12700">
            <a:solidFill>
              <a:schemeClr val="accent2"/>
            </a:solidFill>
            <a:prstDash val="solid"/>
          </a:ln>
        </p:spPr>
      </p:sp>
      <p:sp>
        <p:nvSpPr>
          <p:cNvPr id="19" name="Box 19"/>
          <p:cNvSpPr/>
          <p:nvPr/>
        </p:nvSpPr>
        <p:spPr>
          <a:xfrm>
            <a:off x="1371600" y="5376672"/>
            <a:ext cx="4023360" cy="457200"/>
          </a:xfrm>
          <a:prstGeom prst="roundRect">
            <a:avLst>
              <a:gd name="adj" fmla="val 24000"/>
            </a:avLst>
          </a:prstGeom>
          <a:solidFill>
            <a:schemeClr val="tx1"/>
          </a:solidFill>
          <a:ln w="12700">
            <a:solidFill>
              <a:schemeClr val="tx1"/>
            </a:solidFill>
            <a:prstDash val="solid"/>
          </a:ln>
        </p:spPr>
        <p:txBody>
          <a:bodyPr wrap="square" lIns="45720" tIns="0" rIns="45720" bIns="0" rtlCol="0" anchor="ctr"/>
          <a:lstStyle/>
          <a:p>
            <a:pPr marL="0" indent="0" algn="ctr">
              <a:buNone/>
            </a:pPr>
            <a:r>
              <a:rPr lang="en-US" sz="1500" b="1" dirty="0">
                <a:solidFill>
                  <a:schemeClr val="bg1"/>
                </a:solidFill>
              </a:rPr>
              <a:t>Search History</a:t>
            </a:r>
            <a:endParaRPr lang="en-US" sz="1500" dirty="0"/>
          </a:p>
        </p:txBody>
      </p:sp>
      <p:sp>
        <p:nvSpPr>
          <p:cNvPr id="20" name="Card 20"/>
          <p:cNvSpPr/>
          <p:nvPr/>
        </p:nvSpPr>
        <p:spPr>
          <a:xfrm>
            <a:off x="6492240" y="1371600"/>
            <a:ext cx="5148072" cy="868680"/>
          </a:xfrm>
          <a:prstGeom prst="roundRect">
            <a:avLst>
              <a:gd name="adj" fmla="val 1263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1" name="Number 21"/>
          <p:cNvSpPr/>
          <p:nvPr/>
        </p:nvSpPr>
        <p:spPr>
          <a:xfrm>
            <a:off x="6720840" y="1577340"/>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22" name="Step 22"/>
          <p:cNvSpPr txBox="1"/>
          <p:nvPr/>
        </p:nvSpPr>
        <p:spPr>
          <a:xfrm>
            <a:off x="7406640" y="1444752"/>
            <a:ext cx="4069080" cy="722376"/>
          </a:xfrm>
          <a:prstGeom prst="rect">
            <a:avLst/>
          </a:prstGeom>
          <a:noFill/>
          <a:ln/>
        </p:spPr>
        <p:txBody>
          <a:bodyPr wrap="square" lIns="0" tIns="0" rIns="0" bIns="0" rtlCol="0" anchor="ctr"/>
          <a:lstStyle/>
          <a:p>
            <a:pPr marL="0" indent="0" algn="l">
              <a:buNone/>
            </a:pPr>
            <a:r>
              <a:rPr lang="en-US" sz="1500" dirty="0">
                <a:solidFill>
                  <a:schemeClr val="tx1"/>
                </a:solidFill>
              </a:rPr>
              <a:t>The user selects a search option.</a:t>
            </a:r>
            <a:endParaRPr lang="en-US" sz="1500" dirty="0"/>
          </a:p>
        </p:txBody>
      </p:sp>
      <p:sp>
        <p:nvSpPr>
          <p:cNvPr id="23" name="Card 23"/>
          <p:cNvSpPr/>
          <p:nvPr/>
        </p:nvSpPr>
        <p:spPr>
          <a:xfrm>
            <a:off x="6492240" y="2359152"/>
            <a:ext cx="5148072" cy="868680"/>
          </a:xfrm>
          <a:prstGeom prst="roundRect">
            <a:avLst>
              <a:gd name="adj" fmla="val 1263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4" name="Number 24"/>
          <p:cNvSpPr/>
          <p:nvPr/>
        </p:nvSpPr>
        <p:spPr>
          <a:xfrm>
            <a:off x="6720840" y="25648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5" name="Step 25"/>
          <p:cNvSpPr txBox="1"/>
          <p:nvPr/>
        </p:nvSpPr>
        <p:spPr>
          <a:xfrm>
            <a:off x="7406640" y="2432304"/>
            <a:ext cx="4069080" cy="722376"/>
          </a:xfrm>
          <a:prstGeom prst="rect">
            <a:avLst/>
          </a:prstGeom>
          <a:noFill/>
          <a:ln/>
        </p:spPr>
        <p:txBody>
          <a:bodyPr wrap="square" lIns="0" tIns="0" rIns="0" bIns="0" rtlCol="0" anchor="ctr"/>
          <a:lstStyle/>
          <a:p>
            <a:pPr marL="0" indent="0" algn="l">
              <a:buNone/>
            </a:pPr>
            <a:r>
              <a:rPr lang="en-US" sz="1500" dirty="0">
                <a:solidFill>
                  <a:schemeClr val="tx1"/>
                </a:solidFill>
              </a:rPr>
              <a:t>The program adds tasks to a shared list.</a:t>
            </a:r>
            <a:endParaRPr lang="en-US" sz="1500" dirty="0"/>
          </a:p>
        </p:txBody>
      </p:sp>
      <p:sp>
        <p:nvSpPr>
          <p:cNvPr id="26" name="Card 26"/>
          <p:cNvSpPr/>
          <p:nvPr/>
        </p:nvSpPr>
        <p:spPr>
          <a:xfrm>
            <a:off x="6492240" y="3346704"/>
            <a:ext cx="5148072" cy="868680"/>
          </a:xfrm>
          <a:prstGeom prst="roundRect">
            <a:avLst>
              <a:gd name="adj" fmla="val 1263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7" name="Number 27"/>
          <p:cNvSpPr/>
          <p:nvPr/>
        </p:nvSpPr>
        <p:spPr>
          <a:xfrm>
            <a:off x="6720840" y="3552444"/>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8" name="Step 28"/>
          <p:cNvSpPr txBox="1"/>
          <p:nvPr/>
        </p:nvSpPr>
        <p:spPr>
          <a:xfrm>
            <a:off x="7406640" y="3419856"/>
            <a:ext cx="4069080" cy="722376"/>
          </a:xfrm>
          <a:prstGeom prst="rect">
            <a:avLst/>
          </a:prstGeom>
          <a:noFill/>
          <a:ln/>
        </p:spPr>
        <p:txBody>
          <a:bodyPr wrap="square" lIns="0" tIns="0" rIns="0" bIns="0" rtlCol="0" anchor="ctr"/>
          <a:lstStyle/>
          <a:p>
            <a:pPr marL="0" indent="0" algn="l">
              <a:buNone/>
            </a:pPr>
            <a:r>
              <a:rPr lang="en-US" sz="1500" dirty="0">
                <a:solidFill>
                  <a:schemeClr val="tx1"/>
                </a:solidFill>
              </a:rPr>
              <a:t>Worker threads take tasks and search files or folders.</a:t>
            </a:r>
            <a:endParaRPr lang="en-US" sz="1500" dirty="0"/>
          </a:p>
        </p:txBody>
      </p:sp>
      <p:sp>
        <p:nvSpPr>
          <p:cNvPr id="29" name="Card 29"/>
          <p:cNvSpPr/>
          <p:nvPr/>
        </p:nvSpPr>
        <p:spPr>
          <a:xfrm>
            <a:off x="6492240" y="4334256"/>
            <a:ext cx="5148072" cy="868680"/>
          </a:xfrm>
          <a:prstGeom prst="roundRect">
            <a:avLst>
              <a:gd name="adj" fmla="val 1263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30" name="Number 30"/>
          <p:cNvSpPr/>
          <p:nvPr/>
        </p:nvSpPr>
        <p:spPr>
          <a:xfrm>
            <a:off x="6720840" y="4539996"/>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1" name="Step 31"/>
          <p:cNvSpPr txBox="1"/>
          <p:nvPr/>
        </p:nvSpPr>
        <p:spPr>
          <a:xfrm>
            <a:off x="7406640" y="4407408"/>
            <a:ext cx="4069080" cy="722376"/>
          </a:xfrm>
          <a:prstGeom prst="rect">
            <a:avLst/>
          </a:prstGeom>
          <a:noFill/>
          <a:ln/>
        </p:spPr>
        <p:txBody>
          <a:bodyPr wrap="square" lIns="0" tIns="0" rIns="0" bIns="0" rtlCol="0" anchor="ctr"/>
          <a:lstStyle/>
          <a:p>
            <a:pPr marL="0" indent="0" algn="l">
              <a:buNone/>
            </a:pPr>
            <a:r>
              <a:rPr lang="en-US" sz="1500" dirty="0">
                <a:solidFill>
                  <a:schemeClr val="tx1"/>
                </a:solidFill>
              </a:rPr>
              <a:t>Results are collected safely.</a:t>
            </a:r>
            <a:endParaRPr lang="en-US" sz="1500" dirty="0"/>
          </a:p>
        </p:txBody>
      </p:sp>
      <p:sp>
        <p:nvSpPr>
          <p:cNvPr id="32" name="Card 32"/>
          <p:cNvSpPr/>
          <p:nvPr/>
        </p:nvSpPr>
        <p:spPr>
          <a:xfrm>
            <a:off x="6492240" y="5321808"/>
            <a:ext cx="5148072" cy="868680"/>
          </a:xfrm>
          <a:prstGeom prst="roundRect">
            <a:avLst>
              <a:gd name="adj" fmla="val 1263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33" name="Number 33"/>
          <p:cNvSpPr/>
          <p:nvPr/>
        </p:nvSpPr>
        <p:spPr>
          <a:xfrm>
            <a:off x="6720840" y="5527548"/>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4" name="Step 34"/>
          <p:cNvSpPr txBox="1"/>
          <p:nvPr/>
        </p:nvSpPr>
        <p:spPr>
          <a:xfrm>
            <a:off x="7406640" y="5394960"/>
            <a:ext cx="4069080" cy="722376"/>
          </a:xfrm>
          <a:prstGeom prst="rect">
            <a:avLst/>
          </a:prstGeom>
          <a:noFill/>
          <a:ln/>
        </p:spPr>
        <p:txBody>
          <a:bodyPr wrap="square" lIns="0" tIns="0" rIns="0" bIns="0" rtlCol="0" anchor="ctr"/>
          <a:lstStyle/>
          <a:p>
            <a:pPr marL="0" indent="0" algn="l">
              <a:buNone/>
            </a:pPr>
            <a:r>
              <a:rPr lang="en-US" sz="1500" dirty="0">
                <a:solidFill>
                  <a:schemeClr val="tx1"/>
                </a:solidFill>
              </a:rPr>
              <a:t>The results are displayed and the search history is saved.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Working Methodology</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05 / 11</a:t>
            </a:r>
            <a:endParaRPr lang="en-US" sz="1000" dirty="0"/>
          </a:p>
        </p:txBody>
      </p:sp>
      <p:sp>
        <p:nvSpPr>
          <p:cNvPr id="4" name="Card 4"/>
          <p:cNvSpPr/>
          <p:nvPr/>
        </p:nvSpPr>
        <p:spPr>
          <a:xfrm>
            <a:off x="548640" y="1371600"/>
            <a:ext cx="1719072" cy="1828800"/>
          </a:xfrm>
          <a:prstGeom prst="roundRect">
            <a:avLst>
              <a:gd name="adj" fmla="val 6382"/>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Number 5"/>
          <p:cNvSpPr/>
          <p:nvPr/>
        </p:nvSpPr>
        <p:spPr>
          <a:xfrm>
            <a:off x="1179576" y="15361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Heading 6"/>
          <p:cNvSpPr txBox="1"/>
          <p:nvPr/>
        </p:nvSpPr>
        <p:spPr>
          <a:xfrm>
            <a:off x="640080" y="2103120"/>
            <a:ext cx="1536192" cy="320040"/>
          </a:xfrm>
          <a:prstGeom prst="rect">
            <a:avLst/>
          </a:prstGeom>
          <a:noFill/>
          <a:ln/>
        </p:spPr>
        <p:txBody>
          <a:bodyPr wrap="square" lIns="0" tIns="0" rIns="0" bIns="0" rtlCol="0" anchor="ctr"/>
          <a:lstStyle/>
          <a:p>
            <a:pPr marL="0" indent="0" algn="ctr">
              <a:buNone/>
            </a:pPr>
            <a:r>
              <a:rPr lang="en-US" sz="1600" b="1" dirty="0">
                <a:solidFill>
                  <a:schemeClr val="tx1"/>
                </a:solidFill>
                <a:latin typeface="Cambria" pitchFamily="34" charset="0"/>
                <a:ea typeface="Cambria" pitchFamily="34" charset="-122"/>
                <a:cs typeface="Cambria" pitchFamily="34" charset="-120"/>
              </a:rPr>
              <a:t>Select</a:t>
            </a:r>
            <a:endParaRPr lang="en-US" sz="1600" dirty="0"/>
          </a:p>
        </p:txBody>
      </p:sp>
      <p:sp>
        <p:nvSpPr>
          <p:cNvPr id="7" name="Body 7"/>
          <p:cNvSpPr txBox="1"/>
          <p:nvPr/>
        </p:nvSpPr>
        <p:spPr>
          <a:xfrm>
            <a:off x="685800" y="2468880"/>
            <a:ext cx="1444752" cy="640080"/>
          </a:xfrm>
          <a:prstGeom prst="rect">
            <a:avLst/>
          </a:prstGeom>
          <a:noFill/>
          <a:ln/>
        </p:spPr>
        <p:txBody>
          <a:bodyPr wrap="square" lIns="0" tIns="0" rIns="0" bIns="0" rtlCol="0" anchor="t"/>
          <a:lstStyle/>
          <a:p>
            <a:pPr marL="0" indent="0" algn="ctr">
              <a:buNone/>
            </a:pPr>
            <a:r>
              <a:rPr lang="en-US" sz="1300" dirty="0">
                <a:solidFill>
                  <a:schemeClr val="tx2"/>
                </a:solidFill>
              </a:rPr>
              <a:t>User picks a search option</a:t>
            </a:r>
            <a:endParaRPr lang="en-US" sz="1300" dirty="0"/>
          </a:p>
        </p:txBody>
      </p:sp>
      <p:sp>
        <p:nvSpPr>
          <p:cNvPr id="8" name="Card 8"/>
          <p:cNvSpPr/>
          <p:nvPr/>
        </p:nvSpPr>
        <p:spPr>
          <a:xfrm>
            <a:off x="2423160" y="1371600"/>
            <a:ext cx="1719072" cy="1828800"/>
          </a:xfrm>
          <a:prstGeom prst="roundRect">
            <a:avLst>
              <a:gd name="adj" fmla="val 6382"/>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9" name="Number 9"/>
          <p:cNvSpPr/>
          <p:nvPr/>
        </p:nvSpPr>
        <p:spPr>
          <a:xfrm>
            <a:off x="3054096" y="15361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Heading 10"/>
          <p:cNvSpPr txBox="1"/>
          <p:nvPr/>
        </p:nvSpPr>
        <p:spPr>
          <a:xfrm>
            <a:off x="2514600" y="2103120"/>
            <a:ext cx="1536192" cy="320040"/>
          </a:xfrm>
          <a:prstGeom prst="rect">
            <a:avLst/>
          </a:prstGeom>
          <a:noFill/>
          <a:ln/>
        </p:spPr>
        <p:txBody>
          <a:bodyPr wrap="square" lIns="0" tIns="0" rIns="0" bIns="0" rtlCol="0" anchor="ctr"/>
          <a:lstStyle/>
          <a:p>
            <a:pPr marL="0" indent="0" algn="ctr">
              <a:buNone/>
            </a:pPr>
            <a:r>
              <a:rPr lang="en-US" sz="1600" b="1" dirty="0">
                <a:solidFill>
                  <a:schemeClr val="tx1"/>
                </a:solidFill>
                <a:latin typeface="Cambria" pitchFamily="34" charset="0"/>
                <a:ea typeface="Cambria" pitchFamily="34" charset="-122"/>
                <a:cs typeface="Cambria" pitchFamily="34" charset="-120"/>
              </a:rPr>
              <a:t>Check</a:t>
            </a:r>
            <a:endParaRPr lang="en-US" sz="1600" dirty="0"/>
          </a:p>
        </p:txBody>
      </p:sp>
      <p:sp>
        <p:nvSpPr>
          <p:cNvPr id="11" name="Body 11"/>
          <p:cNvSpPr txBox="1"/>
          <p:nvPr/>
        </p:nvSpPr>
        <p:spPr>
          <a:xfrm>
            <a:off x="2560320" y="2468880"/>
            <a:ext cx="1444752" cy="640080"/>
          </a:xfrm>
          <a:prstGeom prst="rect">
            <a:avLst/>
          </a:prstGeom>
          <a:noFill/>
          <a:ln/>
        </p:spPr>
        <p:txBody>
          <a:bodyPr wrap="square" lIns="0" tIns="0" rIns="0" bIns="0" rtlCol="0" anchor="t"/>
          <a:lstStyle/>
          <a:p>
            <a:pPr marL="0" indent="0" algn="ctr">
              <a:buNone/>
            </a:pPr>
            <a:r>
              <a:rPr lang="en-US" sz="1300" dirty="0">
                <a:solidFill>
                  <a:schemeClr val="tx2"/>
                </a:solidFill>
              </a:rPr>
              <a:t>The folder path is checked</a:t>
            </a:r>
            <a:endParaRPr lang="en-US" sz="1300" dirty="0"/>
          </a:p>
        </p:txBody>
      </p:sp>
      <p:sp>
        <p:nvSpPr>
          <p:cNvPr id="12" name="Card 12"/>
          <p:cNvSpPr/>
          <p:nvPr/>
        </p:nvSpPr>
        <p:spPr>
          <a:xfrm>
            <a:off x="4297680" y="1371600"/>
            <a:ext cx="1719072" cy="1828800"/>
          </a:xfrm>
          <a:prstGeom prst="roundRect">
            <a:avLst>
              <a:gd name="adj" fmla="val 6382"/>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3" name="Number 13"/>
          <p:cNvSpPr/>
          <p:nvPr/>
        </p:nvSpPr>
        <p:spPr>
          <a:xfrm>
            <a:off x="4928616" y="15361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Heading 14"/>
          <p:cNvSpPr txBox="1"/>
          <p:nvPr/>
        </p:nvSpPr>
        <p:spPr>
          <a:xfrm>
            <a:off x="4389120" y="2103120"/>
            <a:ext cx="1536192" cy="320040"/>
          </a:xfrm>
          <a:prstGeom prst="rect">
            <a:avLst/>
          </a:prstGeom>
          <a:noFill/>
          <a:ln/>
        </p:spPr>
        <p:txBody>
          <a:bodyPr wrap="square" lIns="0" tIns="0" rIns="0" bIns="0" rtlCol="0" anchor="ctr"/>
          <a:lstStyle/>
          <a:p>
            <a:pPr marL="0" indent="0" algn="ctr">
              <a:buNone/>
            </a:pPr>
            <a:r>
              <a:rPr lang="en-US" sz="1600" b="1" dirty="0">
                <a:solidFill>
                  <a:schemeClr val="tx1"/>
                </a:solidFill>
                <a:latin typeface="Cambria" pitchFamily="34" charset="0"/>
                <a:ea typeface="Cambria" pitchFamily="34" charset="-122"/>
                <a:cs typeface="Cambria" pitchFamily="34" charset="-120"/>
              </a:rPr>
              <a:t>Add Tasks</a:t>
            </a:r>
            <a:endParaRPr lang="en-US" sz="1600" dirty="0"/>
          </a:p>
        </p:txBody>
      </p:sp>
      <p:sp>
        <p:nvSpPr>
          <p:cNvPr id="15" name="Body 15"/>
          <p:cNvSpPr txBox="1"/>
          <p:nvPr/>
        </p:nvSpPr>
        <p:spPr>
          <a:xfrm>
            <a:off x="4434840" y="2468880"/>
            <a:ext cx="1444752" cy="640080"/>
          </a:xfrm>
          <a:prstGeom prst="rect">
            <a:avLst/>
          </a:prstGeom>
          <a:noFill/>
          <a:ln/>
        </p:spPr>
        <p:txBody>
          <a:bodyPr wrap="square" lIns="0" tIns="0" rIns="0" bIns="0" rtlCol="0" anchor="t"/>
          <a:lstStyle/>
          <a:p>
            <a:pPr marL="0" indent="0" algn="ctr">
              <a:buNone/>
            </a:pPr>
            <a:r>
              <a:rPr lang="en-US" sz="1300" dirty="0">
                <a:solidFill>
                  <a:schemeClr val="tx2"/>
                </a:solidFill>
              </a:rPr>
              <a:t>Tasks go into a shared list</a:t>
            </a:r>
            <a:endParaRPr lang="en-US" sz="1300" dirty="0"/>
          </a:p>
        </p:txBody>
      </p:sp>
      <p:sp>
        <p:nvSpPr>
          <p:cNvPr id="16" name="Card 16"/>
          <p:cNvSpPr/>
          <p:nvPr/>
        </p:nvSpPr>
        <p:spPr>
          <a:xfrm>
            <a:off x="6172200" y="1371600"/>
            <a:ext cx="1719072" cy="1828800"/>
          </a:xfrm>
          <a:prstGeom prst="roundRect">
            <a:avLst>
              <a:gd name="adj" fmla="val 6382"/>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7" name="Number 17"/>
          <p:cNvSpPr/>
          <p:nvPr/>
        </p:nvSpPr>
        <p:spPr>
          <a:xfrm>
            <a:off x="6803136" y="15361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Heading 18"/>
          <p:cNvSpPr txBox="1"/>
          <p:nvPr/>
        </p:nvSpPr>
        <p:spPr>
          <a:xfrm>
            <a:off x="6263640" y="2103120"/>
            <a:ext cx="1536192" cy="320040"/>
          </a:xfrm>
          <a:prstGeom prst="rect">
            <a:avLst/>
          </a:prstGeom>
          <a:noFill/>
          <a:ln/>
        </p:spPr>
        <p:txBody>
          <a:bodyPr wrap="square" lIns="0" tIns="0" rIns="0" bIns="0" rtlCol="0" anchor="ctr"/>
          <a:lstStyle/>
          <a:p>
            <a:pPr marL="0" indent="0" algn="ctr">
              <a:buNone/>
            </a:pPr>
            <a:r>
              <a:rPr lang="en-US" sz="1600" b="1" dirty="0">
                <a:solidFill>
                  <a:schemeClr val="tx1"/>
                </a:solidFill>
                <a:latin typeface="Cambria" pitchFamily="34" charset="0"/>
                <a:ea typeface="Cambria" pitchFamily="34" charset="-122"/>
                <a:cs typeface="Cambria" pitchFamily="34" charset="-120"/>
              </a:rPr>
              <a:t>Search</a:t>
            </a:r>
            <a:endParaRPr lang="en-US" sz="1600" dirty="0"/>
          </a:p>
        </p:txBody>
      </p:sp>
      <p:sp>
        <p:nvSpPr>
          <p:cNvPr id="19" name="Body 19"/>
          <p:cNvSpPr txBox="1"/>
          <p:nvPr/>
        </p:nvSpPr>
        <p:spPr>
          <a:xfrm>
            <a:off x="6309360" y="2468880"/>
            <a:ext cx="1444752" cy="640080"/>
          </a:xfrm>
          <a:prstGeom prst="rect">
            <a:avLst/>
          </a:prstGeom>
          <a:noFill/>
          <a:ln/>
        </p:spPr>
        <p:txBody>
          <a:bodyPr wrap="square" lIns="0" tIns="0" rIns="0" bIns="0" rtlCol="0" anchor="t"/>
          <a:lstStyle/>
          <a:p>
            <a:pPr marL="0" indent="0" algn="ctr">
              <a:buNone/>
            </a:pPr>
            <a:r>
              <a:rPr lang="en-US" sz="1300" dirty="0">
                <a:solidFill>
                  <a:schemeClr val="tx2"/>
                </a:solidFill>
              </a:rPr>
              <a:t>Workers search files and folders</a:t>
            </a:r>
            <a:endParaRPr lang="en-US" sz="1300" dirty="0"/>
          </a:p>
        </p:txBody>
      </p:sp>
      <p:sp>
        <p:nvSpPr>
          <p:cNvPr id="20" name="Card 20"/>
          <p:cNvSpPr/>
          <p:nvPr/>
        </p:nvSpPr>
        <p:spPr>
          <a:xfrm>
            <a:off x="8046720" y="1371600"/>
            <a:ext cx="1719072" cy="1828800"/>
          </a:xfrm>
          <a:prstGeom prst="roundRect">
            <a:avLst>
              <a:gd name="adj" fmla="val 6382"/>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1" name="Number 21"/>
          <p:cNvSpPr/>
          <p:nvPr/>
        </p:nvSpPr>
        <p:spPr>
          <a:xfrm>
            <a:off x="8677656" y="15361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Heading 22"/>
          <p:cNvSpPr txBox="1"/>
          <p:nvPr/>
        </p:nvSpPr>
        <p:spPr>
          <a:xfrm>
            <a:off x="8138160" y="2103120"/>
            <a:ext cx="1536192" cy="320040"/>
          </a:xfrm>
          <a:prstGeom prst="rect">
            <a:avLst/>
          </a:prstGeom>
          <a:noFill/>
          <a:ln/>
        </p:spPr>
        <p:txBody>
          <a:bodyPr wrap="square" lIns="0" tIns="0" rIns="0" bIns="0" rtlCol="0" anchor="ctr"/>
          <a:lstStyle/>
          <a:p>
            <a:pPr marL="0" indent="0" algn="ctr">
              <a:buNone/>
            </a:pPr>
            <a:r>
              <a:rPr lang="en-US" sz="1600" b="1" dirty="0">
                <a:solidFill>
                  <a:schemeClr val="tx1"/>
                </a:solidFill>
                <a:latin typeface="Cambria" pitchFamily="34" charset="0"/>
                <a:ea typeface="Cambria" pitchFamily="34" charset="-122"/>
                <a:cs typeface="Cambria" pitchFamily="34" charset="-120"/>
              </a:rPr>
              <a:t>Update</a:t>
            </a:r>
            <a:endParaRPr lang="en-US" sz="1600" dirty="0"/>
          </a:p>
        </p:txBody>
      </p:sp>
      <p:sp>
        <p:nvSpPr>
          <p:cNvPr id="23" name="Body 23"/>
          <p:cNvSpPr txBox="1"/>
          <p:nvPr/>
        </p:nvSpPr>
        <p:spPr>
          <a:xfrm>
            <a:off x="8183880" y="2468880"/>
            <a:ext cx="1444752" cy="640080"/>
          </a:xfrm>
          <a:prstGeom prst="rect">
            <a:avLst/>
          </a:prstGeom>
          <a:noFill/>
          <a:ln/>
        </p:spPr>
        <p:txBody>
          <a:bodyPr wrap="square" lIns="0" tIns="0" rIns="0" bIns="0" rtlCol="0" anchor="t"/>
          <a:lstStyle/>
          <a:p>
            <a:pPr marL="0" indent="0" algn="ctr">
              <a:buNone/>
            </a:pPr>
            <a:r>
              <a:rPr lang="en-US" sz="1300" dirty="0">
                <a:solidFill>
                  <a:schemeClr val="tx2"/>
                </a:solidFill>
              </a:rPr>
              <a:t>Results are saved safely</a:t>
            </a:r>
            <a:endParaRPr lang="en-US" sz="1300" dirty="0"/>
          </a:p>
        </p:txBody>
      </p:sp>
      <p:sp>
        <p:nvSpPr>
          <p:cNvPr id="24" name="Card 24"/>
          <p:cNvSpPr/>
          <p:nvPr/>
        </p:nvSpPr>
        <p:spPr>
          <a:xfrm>
            <a:off x="9921240" y="1371600"/>
            <a:ext cx="1719072" cy="1828800"/>
          </a:xfrm>
          <a:prstGeom prst="roundRect">
            <a:avLst>
              <a:gd name="adj" fmla="val 6382"/>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5" name="Number 25"/>
          <p:cNvSpPr/>
          <p:nvPr/>
        </p:nvSpPr>
        <p:spPr>
          <a:xfrm>
            <a:off x="10552176" y="15361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6" name="Heading 26"/>
          <p:cNvSpPr txBox="1"/>
          <p:nvPr/>
        </p:nvSpPr>
        <p:spPr>
          <a:xfrm>
            <a:off x="10012680" y="2103120"/>
            <a:ext cx="1536192" cy="320040"/>
          </a:xfrm>
          <a:prstGeom prst="rect">
            <a:avLst/>
          </a:prstGeom>
          <a:noFill/>
          <a:ln/>
        </p:spPr>
        <p:txBody>
          <a:bodyPr wrap="square" lIns="0" tIns="0" rIns="0" bIns="0" rtlCol="0" anchor="ctr"/>
          <a:lstStyle/>
          <a:p>
            <a:pPr marL="0" indent="0" algn="ctr">
              <a:buNone/>
            </a:pPr>
            <a:r>
              <a:rPr lang="en-US" sz="1600" b="1" dirty="0">
                <a:solidFill>
                  <a:schemeClr val="tx1"/>
                </a:solidFill>
                <a:latin typeface="Cambria" pitchFamily="34" charset="0"/>
                <a:ea typeface="Cambria" pitchFamily="34" charset="-122"/>
                <a:cs typeface="Cambria" pitchFamily="34" charset="-120"/>
              </a:rPr>
              <a:t>Show</a:t>
            </a:r>
            <a:endParaRPr lang="en-US" sz="1600" dirty="0"/>
          </a:p>
        </p:txBody>
      </p:sp>
      <p:sp>
        <p:nvSpPr>
          <p:cNvPr id="27" name="Body 27"/>
          <p:cNvSpPr txBox="1"/>
          <p:nvPr/>
        </p:nvSpPr>
        <p:spPr>
          <a:xfrm>
            <a:off x="10058400" y="2468880"/>
            <a:ext cx="1444752" cy="640080"/>
          </a:xfrm>
          <a:prstGeom prst="rect">
            <a:avLst/>
          </a:prstGeom>
          <a:noFill/>
          <a:ln/>
        </p:spPr>
        <p:txBody>
          <a:bodyPr wrap="square" lIns="0" tIns="0" rIns="0" bIns="0" rtlCol="0" anchor="t"/>
          <a:lstStyle/>
          <a:p>
            <a:pPr marL="0" indent="0" algn="ctr">
              <a:buNone/>
            </a:pPr>
            <a:r>
              <a:rPr lang="en-US" sz="1300" dirty="0">
                <a:solidFill>
                  <a:schemeClr val="tx2"/>
                </a:solidFill>
              </a:rPr>
              <a:t>Results are shown and history is saved</a:t>
            </a:r>
            <a:endParaRPr lang="en-US" sz="1300" dirty="0"/>
          </a:p>
        </p:txBody>
      </p:sp>
      <p:sp>
        <p:nvSpPr>
          <p:cNvPr id="28" name="Heading 28"/>
          <p:cNvSpPr txBox="1"/>
          <p:nvPr/>
        </p:nvSpPr>
        <p:spPr>
          <a:xfrm>
            <a:off x="548640" y="3401568"/>
            <a:ext cx="3657600" cy="36576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The Main Menu</a:t>
            </a:r>
            <a:endParaRPr lang="en-US" sz="1900" dirty="0"/>
          </a:p>
        </p:txBody>
      </p:sp>
      <p:pic>
        <p:nvPicPr>
          <p:cNvPr id="29" name="Screenshot 29" descr="Main menu of the program with options 1 to 10"/>
          <p:cNvPicPr>
            <a:picLocks noChangeAspect="1"/>
          </p:cNvPicPr>
          <p:nvPr/>
        </p:nvPicPr>
        <p:blipFill>
          <a:blip r:embed="rId3"/>
          <a:stretch>
            <a:fillRect/>
          </a:stretch>
        </p:blipFill>
        <p:spPr>
          <a:xfrm>
            <a:off x="548640" y="3840480"/>
            <a:ext cx="3657600" cy="1963901"/>
          </a:xfrm>
          <a:prstGeom prst="rect">
            <a:avLst/>
          </a:prstGeom>
          <a:ln w="12700">
            <a:solidFill>
              <a:schemeClr val="accent4"/>
            </a:solidFill>
          </a:ln>
        </p:spPr>
      </p:pic>
      <p:sp>
        <p:nvSpPr>
          <p:cNvPr id="30" name="Caption 30"/>
          <p:cNvSpPr txBox="1"/>
          <p:nvPr/>
        </p:nvSpPr>
        <p:spPr>
          <a:xfrm>
            <a:off x="548640" y="5852160"/>
            <a:ext cx="3657600" cy="320040"/>
          </a:xfrm>
          <a:prstGeom prst="rect">
            <a:avLst/>
          </a:prstGeom>
          <a:noFill/>
          <a:ln/>
        </p:spPr>
        <p:txBody>
          <a:bodyPr wrap="square" lIns="0" tIns="0" rIns="0" bIns="0" rtlCol="0" anchor="t"/>
          <a:lstStyle/>
          <a:p>
            <a:pPr marL="0" indent="0" algn="l">
              <a:buNone/>
            </a:pPr>
            <a:r>
              <a:rPr lang="en-US" sz="1200" dirty="0">
                <a:solidFill>
                  <a:schemeClr val="tx2"/>
                </a:solidFill>
              </a:rPr>
              <a:t>The program shows 10 menu options.</a:t>
            </a:r>
            <a:endParaRPr lang="en-US" sz="1200" dirty="0"/>
          </a:p>
        </p:txBody>
      </p:sp>
      <p:sp>
        <p:nvSpPr>
          <p:cNvPr id="31" name="Heading 31"/>
          <p:cNvSpPr txBox="1"/>
          <p:nvPr/>
        </p:nvSpPr>
        <p:spPr>
          <a:xfrm>
            <a:off x="4526280" y="3401568"/>
            <a:ext cx="4572000" cy="36576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Safeguards</a:t>
            </a:r>
            <a:endParaRPr lang="en-US" sz="1900" dirty="0"/>
          </a:p>
        </p:txBody>
      </p:sp>
      <p:sp>
        <p:nvSpPr>
          <p:cNvPr id="32" name="Card 32"/>
          <p:cNvSpPr/>
          <p:nvPr/>
        </p:nvSpPr>
        <p:spPr>
          <a:xfrm>
            <a:off x="4526280" y="3840480"/>
            <a:ext cx="3465576" cy="1051560"/>
          </a:xfrm>
          <a:prstGeom prst="roundRect">
            <a:avLst>
              <a:gd name="adj" fmla="val 10434"/>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3" name="Heading 33"/>
          <p:cNvSpPr txBox="1"/>
          <p:nvPr/>
        </p:nvSpPr>
        <p:spPr>
          <a:xfrm>
            <a:off x="4709160" y="3950208"/>
            <a:ext cx="3108960" cy="32004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Permission errors</a:t>
            </a:r>
            <a:endParaRPr lang="en-US" sz="1600" dirty="0"/>
          </a:p>
        </p:txBody>
      </p:sp>
      <p:sp>
        <p:nvSpPr>
          <p:cNvPr id="34" name="Body 34"/>
          <p:cNvSpPr txBox="1"/>
          <p:nvPr/>
        </p:nvSpPr>
        <p:spPr>
          <a:xfrm>
            <a:off x="4709160" y="4343400"/>
            <a:ext cx="3108960" cy="502920"/>
          </a:xfrm>
          <a:prstGeom prst="rect">
            <a:avLst/>
          </a:prstGeom>
          <a:noFill/>
          <a:ln/>
        </p:spPr>
        <p:txBody>
          <a:bodyPr wrap="square" lIns="0" tIns="0" rIns="0" bIns="0" rtlCol="0" anchor="t"/>
          <a:lstStyle/>
          <a:p>
            <a:pPr marL="0" indent="0" algn="l">
              <a:buNone/>
            </a:pPr>
            <a:r>
              <a:rPr lang="en-US" sz="1300" dirty="0">
                <a:solidFill>
                  <a:schemeClr val="tx2"/>
                </a:solidFill>
              </a:rPr>
              <a:t>Folders that cannot be opened are skipped</a:t>
            </a:r>
            <a:endParaRPr lang="en-US" sz="1300" dirty="0"/>
          </a:p>
        </p:txBody>
      </p:sp>
      <p:sp>
        <p:nvSpPr>
          <p:cNvPr id="35" name="Card 35"/>
          <p:cNvSpPr/>
          <p:nvPr/>
        </p:nvSpPr>
        <p:spPr>
          <a:xfrm>
            <a:off x="8174736" y="3840480"/>
            <a:ext cx="3465576" cy="1051560"/>
          </a:xfrm>
          <a:prstGeom prst="roundRect">
            <a:avLst>
              <a:gd name="adj" fmla="val 10434"/>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6" name="Heading 36"/>
          <p:cNvSpPr txBox="1"/>
          <p:nvPr/>
        </p:nvSpPr>
        <p:spPr>
          <a:xfrm>
            <a:off x="8357616" y="3950208"/>
            <a:ext cx="3108960" cy="32004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Non-text files</a:t>
            </a:r>
            <a:endParaRPr lang="en-US" sz="1600" dirty="0"/>
          </a:p>
        </p:txBody>
      </p:sp>
      <p:sp>
        <p:nvSpPr>
          <p:cNvPr id="37" name="Body 37"/>
          <p:cNvSpPr txBox="1"/>
          <p:nvPr/>
        </p:nvSpPr>
        <p:spPr>
          <a:xfrm>
            <a:off x="8357616" y="4343400"/>
            <a:ext cx="3108960" cy="502920"/>
          </a:xfrm>
          <a:prstGeom prst="rect">
            <a:avLst/>
          </a:prstGeom>
          <a:noFill/>
          <a:ln/>
        </p:spPr>
        <p:txBody>
          <a:bodyPr wrap="square" lIns="0" tIns="0" rIns="0" bIns="0" rtlCol="0" anchor="t"/>
          <a:lstStyle/>
          <a:p>
            <a:pPr marL="0" indent="0" algn="l">
              <a:buNone/>
            </a:pPr>
            <a:r>
              <a:rPr lang="en-US" sz="1300" dirty="0">
                <a:solidFill>
                  <a:schemeClr val="tx2"/>
                </a:solidFill>
              </a:rPr>
              <a:t>Skipped during text search</a:t>
            </a:r>
            <a:endParaRPr lang="en-US" sz="1300" dirty="0"/>
          </a:p>
        </p:txBody>
      </p:sp>
      <p:sp>
        <p:nvSpPr>
          <p:cNvPr id="38" name="Card 38"/>
          <p:cNvSpPr/>
          <p:nvPr/>
        </p:nvSpPr>
        <p:spPr>
          <a:xfrm>
            <a:off x="4526280" y="5029200"/>
            <a:ext cx="3465576" cy="1051560"/>
          </a:xfrm>
          <a:prstGeom prst="roundRect">
            <a:avLst>
              <a:gd name="adj" fmla="val 10434"/>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39" name="Heading 39"/>
          <p:cNvSpPr txBox="1"/>
          <p:nvPr/>
        </p:nvSpPr>
        <p:spPr>
          <a:xfrm>
            <a:off x="4709160" y="5138928"/>
            <a:ext cx="3108960" cy="32004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Folder loops</a:t>
            </a:r>
            <a:endParaRPr lang="en-US" sz="1600" dirty="0"/>
          </a:p>
        </p:txBody>
      </p:sp>
      <p:sp>
        <p:nvSpPr>
          <p:cNvPr id="40" name="Body 40"/>
          <p:cNvSpPr txBox="1"/>
          <p:nvPr/>
        </p:nvSpPr>
        <p:spPr>
          <a:xfrm>
            <a:off x="4709160" y="5532120"/>
            <a:ext cx="3108960" cy="502920"/>
          </a:xfrm>
          <a:prstGeom prst="rect">
            <a:avLst/>
          </a:prstGeom>
          <a:noFill/>
          <a:ln/>
        </p:spPr>
        <p:txBody>
          <a:bodyPr wrap="square" lIns="0" tIns="0" rIns="0" bIns="0" rtlCol="0" anchor="t"/>
          <a:lstStyle/>
          <a:p>
            <a:pPr marL="0" indent="0" algn="l">
              <a:buNone/>
            </a:pPr>
            <a:r>
              <a:rPr lang="en-US" sz="1300" dirty="0">
                <a:solidFill>
                  <a:schemeClr val="tx2"/>
                </a:solidFill>
              </a:rPr>
              <a:t>Visited folders are tracked to avoid endless loops</a:t>
            </a:r>
            <a:endParaRPr lang="en-US" sz="1300" dirty="0"/>
          </a:p>
        </p:txBody>
      </p:sp>
      <p:sp>
        <p:nvSpPr>
          <p:cNvPr id="41" name="Card 41"/>
          <p:cNvSpPr/>
          <p:nvPr/>
        </p:nvSpPr>
        <p:spPr>
          <a:xfrm>
            <a:off x="8174736" y="5029200"/>
            <a:ext cx="3465576" cy="1051560"/>
          </a:xfrm>
          <a:prstGeom prst="roundRect">
            <a:avLst>
              <a:gd name="adj" fmla="val 10434"/>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42" name="Heading 42"/>
          <p:cNvSpPr txBox="1"/>
          <p:nvPr/>
        </p:nvSpPr>
        <p:spPr>
          <a:xfrm>
            <a:off x="8357616" y="5138928"/>
            <a:ext cx="3108960" cy="32004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Clean exit</a:t>
            </a:r>
            <a:endParaRPr lang="en-US" sz="1600" dirty="0"/>
          </a:p>
        </p:txBody>
      </p:sp>
      <p:sp>
        <p:nvSpPr>
          <p:cNvPr id="43" name="Body 43"/>
          <p:cNvSpPr txBox="1"/>
          <p:nvPr/>
        </p:nvSpPr>
        <p:spPr>
          <a:xfrm>
            <a:off x="8357616" y="5532120"/>
            <a:ext cx="3108960" cy="502920"/>
          </a:xfrm>
          <a:prstGeom prst="rect">
            <a:avLst/>
          </a:prstGeom>
          <a:noFill/>
          <a:ln/>
        </p:spPr>
        <p:txBody>
          <a:bodyPr wrap="square" lIns="0" tIns="0" rIns="0" bIns="0" rtlCol="0" anchor="t"/>
          <a:lstStyle/>
          <a:p>
            <a:pPr marL="0" indent="0" algn="l">
              <a:buNone/>
            </a:pPr>
            <a:r>
              <a:rPr lang="en-US" sz="1300" dirty="0">
                <a:solidFill>
                  <a:schemeClr val="tx2"/>
                </a:solidFill>
              </a:rPr>
              <a:t>All worker threads stop properly at the end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Main Menu: Search and Discovery</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06 / 11</a:t>
            </a:r>
            <a:endParaRPr lang="en-US" sz="1000" dirty="0"/>
          </a:p>
        </p:txBody>
      </p:sp>
      <p:sp>
        <p:nvSpPr>
          <p:cNvPr id="4" name="Card 4"/>
          <p:cNvSpPr/>
          <p:nvPr/>
        </p:nvSpPr>
        <p:spPr>
          <a:xfrm>
            <a:off x="548640" y="1371600"/>
            <a:ext cx="6949440" cy="1481328"/>
          </a:xfrm>
          <a:prstGeom prst="roundRect">
            <a:avLst>
              <a:gd name="adj" fmla="val 7407"/>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Number 5"/>
          <p:cNvSpPr/>
          <p:nvPr/>
        </p:nvSpPr>
        <p:spPr>
          <a:xfrm>
            <a:off x="777240" y="1554480"/>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Heading 6"/>
          <p:cNvSpPr txBox="1"/>
          <p:nvPr/>
        </p:nvSpPr>
        <p:spPr>
          <a:xfrm>
            <a:off x="1463040" y="1554480"/>
            <a:ext cx="5852160" cy="50292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Search by Filename</a:t>
            </a:r>
            <a:endParaRPr lang="en-US" sz="1900" dirty="0"/>
          </a:p>
        </p:txBody>
      </p:sp>
      <p:sp>
        <p:nvSpPr>
          <p:cNvPr id="7" name="Body 7"/>
          <p:cNvSpPr txBox="1"/>
          <p:nvPr/>
        </p:nvSpPr>
        <p:spPr>
          <a:xfrm>
            <a:off x="1463040" y="2121408"/>
            <a:ext cx="5852160" cy="713232"/>
          </a:xfrm>
          <a:prstGeom prst="rect">
            <a:avLst/>
          </a:prstGeom>
          <a:noFill/>
          <a:ln/>
        </p:spPr>
        <p:txBody>
          <a:bodyPr wrap="square" lIns="0" tIns="0" rIns="0" bIns="0" rtlCol="0" anchor="t"/>
          <a:lstStyle/>
          <a:p>
            <a:pPr marL="285750" indent="-285750" algn="l">
              <a:spcAft>
                <a:spcPts val="200"/>
              </a:spcAft>
              <a:buSzPct val="100000"/>
              <a:buChar char="•"/>
            </a:pPr>
            <a:r>
              <a:rPr lang="en-US" sz="1400" dirty="0">
                <a:solidFill>
                  <a:schemeClr val="tx2"/>
                </a:solidFill>
              </a:rPr>
              <a:t>Matches any part of the name (capital or small letters)</a:t>
            </a:r>
            <a:endParaRPr lang="en-US" sz="1400" dirty="0"/>
          </a:p>
          <a:p>
            <a:pPr marL="285750" indent="-285750" algn="l">
              <a:spcAft>
                <a:spcPts val="200"/>
              </a:spcAft>
              <a:buSzPct val="100000"/>
              <a:buChar char="•"/>
            </a:pPr>
            <a:r>
              <a:rPr lang="en-US" sz="1400" dirty="0">
                <a:solidFill>
                  <a:schemeClr val="tx2"/>
                </a:solidFill>
              </a:rPr>
              <a:t>Can use patterns like *.c</a:t>
            </a:r>
            <a:endParaRPr lang="en-US" sz="1400" dirty="0"/>
          </a:p>
          <a:p>
            <a:pPr marL="285750" indent="-285750" algn="l">
              <a:spcAft>
                <a:spcPts val="200"/>
              </a:spcAft>
              <a:buSzPct val="100000"/>
              <a:buChar char="•"/>
            </a:pPr>
            <a:r>
              <a:rPr lang="en-US" sz="1400" dirty="0">
                <a:solidFill>
                  <a:schemeClr val="tx2"/>
                </a:solidFill>
              </a:rPr>
              <a:t>Looks inside all sub-folders</a:t>
            </a:r>
            <a:endParaRPr lang="en-US" sz="1400" dirty="0"/>
          </a:p>
        </p:txBody>
      </p:sp>
      <p:sp>
        <p:nvSpPr>
          <p:cNvPr id="8" name="Card 8"/>
          <p:cNvSpPr/>
          <p:nvPr/>
        </p:nvSpPr>
        <p:spPr>
          <a:xfrm>
            <a:off x="548640" y="3035808"/>
            <a:ext cx="6949440" cy="1481328"/>
          </a:xfrm>
          <a:prstGeom prst="roundRect">
            <a:avLst>
              <a:gd name="adj" fmla="val 7407"/>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9" name="Number 9"/>
          <p:cNvSpPr/>
          <p:nvPr/>
        </p:nvSpPr>
        <p:spPr>
          <a:xfrm>
            <a:off x="777240" y="3218688"/>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Heading 10"/>
          <p:cNvSpPr txBox="1"/>
          <p:nvPr/>
        </p:nvSpPr>
        <p:spPr>
          <a:xfrm>
            <a:off x="1463040" y="3218688"/>
            <a:ext cx="5852160" cy="50292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Search Text Inside Files</a:t>
            </a:r>
            <a:endParaRPr lang="en-US" sz="1900" dirty="0"/>
          </a:p>
        </p:txBody>
      </p:sp>
      <p:sp>
        <p:nvSpPr>
          <p:cNvPr id="11" name="Body 11"/>
          <p:cNvSpPr txBox="1"/>
          <p:nvPr/>
        </p:nvSpPr>
        <p:spPr>
          <a:xfrm>
            <a:off x="1463040" y="3785616"/>
            <a:ext cx="5852160" cy="713232"/>
          </a:xfrm>
          <a:prstGeom prst="rect">
            <a:avLst/>
          </a:prstGeom>
          <a:noFill/>
          <a:ln/>
        </p:spPr>
        <p:txBody>
          <a:bodyPr wrap="square" lIns="0" tIns="0" rIns="0" bIns="0" rtlCol="0" anchor="t"/>
          <a:lstStyle/>
          <a:p>
            <a:pPr marL="285750" indent="-285750" algn="l">
              <a:spcAft>
                <a:spcPts val="200"/>
              </a:spcAft>
              <a:buSzPct val="100000"/>
              <a:buChar char="•"/>
            </a:pPr>
            <a:r>
              <a:rPr lang="en-US" sz="1400" dirty="0">
                <a:solidFill>
                  <a:schemeClr val="tx2"/>
                </a:solidFill>
              </a:rPr>
              <a:t>Reads files line by line to find the text</a:t>
            </a:r>
            <a:endParaRPr lang="en-US" sz="1400" dirty="0"/>
          </a:p>
          <a:p>
            <a:pPr marL="285750" indent="-285750" algn="l">
              <a:spcAft>
                <a:spcPts val="200"/>
              </a:spcAft>
              <a:buSzPct val="100000"/>
              <a:buChar char="•"/>
            </a:pPr>
            <a:r>
              <a:rPr lang="en-US" sz="1400" dirty="0">
                <a:solidFill>
                  <a:schemeClr val="tx2"/>
                </a:solidFill>
              </a:rPr>
              <a:t>Shows the file path, line number and the line</a:t>
            </a:r>
            <a:endParaRPr lang="en-US" sz="1400" dirty="0"/>
          </a:p>
          <a:p>
            <a:pPr marL="285750" indent="-285750" algn="l">
              <a:spcAft>
                <a:spcPts val="200"/>
              </a:spcAft>
              <a:buSzPct val="100000"/>
              <a:buChar char="•"/>
            </a:pPr>
            <a:r>
              <a:rPr lang="en-US" sz="1400" dirty="0">
                <a:solidFill>
                  <a:schemeClr val="tx2"/>
                </a:solidFill>
              </a:rPr>
              <a:t>Skips non-text files</a:t>
            </a:r>
            <a:endParaRPr lang="en-US" sz="1400" dirty="0"/>
          </a:p>
        </p:txBody>
      </p:sp>
      <p:sp>
        <p:nvSpPr>
          <p:cNvPr id="12" name="Card 12"/>
          <p:cNvSpPr/>
          <p:nvPr/>
        </p:nvSpPr>
        <p:spPr>
          <a:xfrm>
            <a:off x="548640" y="4700016"/>
            <a:ext cx="6949440" cy="1481328"/>
          </a:xfrm>
          <a:prstGeom prst="roundRect">
            <a:avLst>
              <a:gd name="adj" fmla="val 7407"/>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3" name="Number 13"/>
          <p:cNvSpPr/>
          <p:nvPr/>
        </p:nvSpPr>
        <p:spPr>
          <a:xfrm>
            <a:off x="777240" y="4882896"/>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Heading 14"/>
          <p:cNvSpPr txBox="1"/>
          <p:nvPr/>
        </p:nvSpPr>
        <p:spPr>
          <a:xfrm>
            <a:off x="1463040" y="4882896"/>
            <a:ext cx="5852160" cy="50292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Search by File Extension</a:t>
            </a:r>
            <a:endParaRPr lang="en-US" sz="1900" dirty="0"/>
          </a:p>
        </p:txBody>
      </p:sp>
      <p:sp>
        <p:nvSpPr>
          <p:cNvPr id="15" name="Body 15"/>
          <p:cNvSpPr txBox="1"/>
          <p:nvPr/>
        </p:nvSpPr>
        <p:spPr>
          <a:xfrm>
            <a:off x="1463040" y="5449824"/>
            <a:ext cx="5852160" cy="713232"/>
          </a:xfrm>
          <a:prstGeom prst="rect">
            <a:avLst/>
          </a:prstGeom>
          <a:noFill/>
          <a:ln/>
        </p:spPr>
        <p:txBody>
          <a:bodyPr wrap="square" lIns="0" tIns="0" rIns="0" bIns="0" rtlCol="0" anchor="t"/>
          <a:lstStyle/>
          <a:p>
            <a:pPr marL="285750" indent="-285750" algn="l">
              <a:spcAft>
                <a:spcPts val="200"/>
              </a:spcAft>
              <a:buSzPct val="100000"/>
              <a:buChar char="•"/>
            </a:pPr>
            <a:r>
              <a:rPr lang="en-US" sz="1400" dirty="0">
                <a:solidFill>
                  <a:schemeClr val="tx2"/>
                </a:solidFill>
              </a:rPr>
              <a:t>Extensions like .c, .h, .pdf, .json</a:t>
            </a:r>
            <a:endParaRPr lang="en-US" sz="1400" dirty="0"/>
          </a:p>
          <a:p>
            <a:pPr marL="285750" indent="-285750" algn="l">
              <a:spcAft>
                <a:spcPts val="200"/>
              </a:spcAft>
              <a:buSzPct val="100000"/>
              <a:buChar char="•"/>
            </a:pPr>
            <a:r>
              <a:rPr lang="en-US" sz="1400" dirty="0">
                <a:solidFill>
                  <a:schemeClr val="tx2"/>
                </a:solidFill>
              </a:rPr>
              <a:t>Accepts .c or just c</a:t>
            </a:r>
            <a:endParaRPr lang="en-US" sz="1400" dirty="0"/>
          </a:p>
          <a:p>
            <a:pPr marL="285750" indent="-285750" algn="l">
              <a:spcAft>
                <a:spcPts val="200"/>
              </a:spcAft>
              <a:buSzPct val="100000"/>
              <a:buChar char="•"/>
            </a:pPr>
            <a:r>
              <a:rPr lang="en-US" sz="1400" dirty="0">
                <a:solidFill>
                  <a:schemeClr val="tx2"/>
                </a:solidFill>
              </a:rPr>
              <a:t>Groups the files by type</a:t>
            </a:r>
            <a:endParaRPr lang="en-US" sz="1400" dirty="0"/>
          </a:p>
        </p:txBody>
      </p:sp>
      <p:pic>
        <p:nvPicPr>
          <p:cNvPr id="16" name="Screenshot 16" descr="Terminal: filename search"/>
          <p:cNvPicPr>
            <a:picLocks noChangeAspect="1"/>
          </p:cNvPicPr>
          <p:nvPr/>
        </p:nvPicPr>
        <p:blipFill>
          <a:blip r:embed="rId3"/>
          <a:stretch>
            <a:fillRect/>
          </a:stretch>
        </p:blipFill>
        <p:spPr>
          <a:xfrm>
            <a:off x="7891272" y="1371600"/>
            <a:ext cx="3749040" cy="2057613"/>
          </a:xfrm>
          <a:prstGeom prst="rect">
            <a:avLst/>
          </a:prstGeom>
          <a:ln w="12700">
            <a:solidFill>
              <a:schemeClr val="accent4"/>
            </a:solidFill>
          </a:ln>
        </p:spPr>
      </p:pic>
      <p:sp>
        <p:nvSpPr>
          <p:cNvPr id="17" name="Caption 17"/>
          <p:cNvSpPr txBox="1"/>
          <p:nvPr/>
        </p:nvSpPr>
        <p:spPr>
          <a:xfrm>
            <a:off x="7891272" y="3474933"/>
            <a:ext cx="3749040" cy="320040"/>
          </a:xfrm>
          <a:prstGeom prst="rect">
            <a:avLst/>
          </a:prstGeom>
          <a:noFill/>
          <a:ln/>
        </p:spPr>
        <p:txBody>
          <a:bodyPr wrap="square" lIns="0" tIns="0" rIns="0" bIns="0" rtlCol="0" anchor="t"/>
          <a:lstStyle/>
          <a:p>
            <a:pPr marL="0" indent="0" algn="l">
              <a:buNone/>
            </a:pPr>
            <a:r>
              <a:rPr lang="en-US" sz="1200" dirty="0">
                <a:solidFill>
                  <a:schemeClr val="tx2"/>
                </a:solidFill>
              </a:rPr>
              <a:t>Filename search found 2 matches.</a:t>
            </a:r>
            <a:endParaRPr lang="en-US" sz="1200" dirty="0"/>
          </a:p>
        </p:txBody>
      </p:sp>
      <p:pic>
        <p:nvPicPr>
          <p:cNvPr id="18" name="Screenshot 18" descr="Terminal: text search"/>
          <p:cNvPicPr>
            <a:picLocks noChangeAspect="1"/>
          </p:cNvPicPr>
          <p:nvPr/>
        </p:nvPicPr>
        <p:blipFill>
          <a:blip r:embed="rId4"/>
          <a:stretch>
            <a:fillRect/>
          </a:stretch>
        </p:blipFill>
        <p:spPr>
          <a:xfrm>
            <a:off x="7891272" y="3886200"/>
            <a:ext cx="3749040" cy="1894252"/>
          </a:xfrm>
          <a:prstGeom prst="rect">
            <a:avLst/>
          </a:prstGeom>
          <a:ln w="12700">
            <a:solidFill>
              <a:schemeClr val="accent4"/>
            </a:solidFill>
          </a:ln>
        </p:spPr>
      </p:pic>
      <p:sp>
        <p:nvSpPr>
          <p:cNvPr id="19" name="Caption 19"/>
          <p:cNvSpPr txBox="1"/>
          <p:nvPr/>
        </p:nvSpPr>
        <p:spPr>
          <a:xfrm>
            <a:off x="7891272" y="5826172"/>
            <a:ext cx="3749040" cy="320040"/>
          </a:xfrm>
          <a:prstGeom prst="rect">
            <a:avLst/>
          </a:prstGeom>
          <a:noFill/>
          <a:ln/>
        </p:spPr>
        <p:txBody>
          <a:bodyPr wrap="square" lIns="0" tIns="0" rIns="0" bIns="0" rtlCol="0" anchor="t"/>
          <a:lstStyle/>
          <a:p>
            <a:pPr marL="0" indent="0" algn="l">
              <a:buNone/>
            </a:pPr>
            <a:r>
              <a:rPr lang="en-US" sz="1200" dirty="0">
                <a:solidFill>
                  <a:schemeClr val="tx2"/>
                </a:solidFill>
              </a:rPr>
              <a:t>Text search displayed matching lines.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Main Menu: Advanced Search Operations</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07 / 11</a:t>
            </a:r>
            <a:endParaRPr lang="en-US" sz="1000" dirty="0"/>
          </a:p>
        </p:txBody>
      </p:sp>
      <p:sp>
        <p:nvSpPr>
          <p:cNvPr id="4" name="Card 4"/>
          <p:cNvSpPr/>
          <p:nvPr/>
        </p:nvSpPr>
        <p:spPr>
          <a:xfrm>
            <a:off x="548640" y="1371600"/>
            <a:ext cx="3566160" cy="2194560"/>
          </a:xfrm>
          <a:prstGeom prst="roundRect">
            <a:avLst>
              <a:gd name="adj" fmla="val 5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Number 5"/>
          <p:cNvSpPr/>
          <p:nvPr/>
        </p:nvSpPr>
        <p:spPr>
          <a:xfrm>
            <a:off x="749808" y="1572768"/>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6" name="Heading 6"/>
          <p:cNvSpPr txBox="1"/>
          <p:nvPr/>
        </p:nvSpPr>
        <p:spPr>
          <a:xfrm>
            <a:off x="1325880" y="1508760"/>
            <a:ext cx="2651760" cy="594360"/>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Search Windows PC</a:t>
            </a:r>
            <a:endParaRPr lang="en-US" sz="1700" dirty="0"/>
          </a:p>
        </p:txBody>
      </p:sp>
      <p:sp>
        <p:nvSpPr>
          <p:cNvPr id="7" name="Body 7"/>
          <p:cNvSpPr txBox="1"/>
          <p:nvPr/>
        </p:nvSpPr>
        <p:spPr>
          <a:xfrm>
            <a:off x="777240" y="2286000"/>
            <a:ext cx="3200400" cy="1188720"/>
          </a:xfrm>
          <a:prstGeom prst="rect">
            <a:avLst/>
          </a:prstGeom>
          <a:noFill/>
          <a:ln/>
        </p:spPr>
        <p:txBody>
          <a:bodyPr wrap="square" lIns="0" tIns="0" rIns="0" bIns="0" rtlCol="0" anchor="t"/>
          <a:lstStyle/>
          <a:p>
            <a:pPr marL="285750" indent="-285750" algn="l">
              <a:spcAft>
                <a:spcPts val="600"/>
              </a:spcAft>
              <a:buSzPct val="100000"/>
              <a:buChar char="•"/>
            </a:pPr>
            <a:r>
              <a:rPr lang="en-US" sz="1400" dirty="0">
                <a:solidFill>
                  <a:schemeClr val="tx2"/>
                </a:solidFill>
              </a:rPr>
              <a:t>Searches Windows folders (/mnt/c/)</a:t>
            </a:r>
            <a:endParaRPr lang="en-US" sz="1400" dirty="0"/>
          </a:p>
          <a:p>
            <a:pPr marL="285750" indent="-285750" algn="l">
              <a:spcAft>
                <a:spcPts val="600"/>
              </a:spcAft>
              <a:buSzPct val="100000"/>
              <a:buChar char="•"/>
            </a:pPr>
            <a:r>
              <a:rPr lang="en-US" sz="1400" dirty="0">
                <a:solidFill>
                  <a:schemeClr val="tx2"/>
                </a:solidFill>
              </a:rPr>
              <a:t>Desktop, Downloads, Documents</a:t>
            </a:r>
            <a:endParaRPr lang="en-US" sz="1400" dirty="0"/>
          </a:p>
          <a:p>
            <a:pPr marL="285750" indent="-285750" algn="l">
              <a:spcAft>
                <a:spcPts val="600"/>
              </a:spcAft>
              <a:buSzPct val="100000"/>
              <a:buChar char="•"/>
            </a:pPr>
            <a:r>
              <a:rPr lang="en-US" sz="1400" dirty="0">
                <a:solidFill>
                  <a:schemeClr val="tx2"/>
                </a:solidFill>
              </a:rPr>
              <a:t>By filename or text inside files</a:t>
            </a:r>
            <a:endParaRPr lang="en-US" sz="1400" dirty="0"/>
          </a:p>
        </p:txBody>
      </p:sp>
      <p:sp>
        <p:nvSpPr>
          <p:cNvPr id="8" name="Card 8"/>
          <p:cNvSpPr/>
          <p:nvPr/>
        </p:nvSpPr>
        <p:spPr>
          <a:xfrm>
            <a:off x="4311396" y="1371600"/>
            <a:ext cx="3566160" cy="2194560"/>
          </a:xfrm>
          <a:prstGeom prst="roundRect">
            <a:avLst>
              <a:gd name="adj" fmla="val 5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9" name="Number 9"/>
          <p:cNvSpPr/>
          <p:nvPr/>
        </p:nvSpPr>
        <p:spPr>
          <a:xfrm>
            <a:off x="4512564" y="1572768"/>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0" name="Heading 10"/>
          <p:cNvSpPr txBox="1"/>
          <p:nvPr/>
        </p:nvSpPr>
        <p:spPr>
          <a:xfrm>
            <a:off x="5088636" y="1508760"/>
            <a:ext cx="2651760" cy="594360"/>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Search by File Size</a:t>
            </a:r>
            <a:endParaRPr lang="en-US" sz="1700" dirty="0"/>
          </a:p>
        </p:txBody>
      </p:sp>
      <p:sp>
        <p:nvSpPr>
          <p:cNvPr id="11" name="Body 11"/>
          <p:cNvSpPr txBox="1"/>
          <p:nvPr/>
        </p:nvSpPr>
        <p:spPr>
          <a:xfrm>
            <a:off x="4539996" y="2286000"/>
            <a:ext cx="3200400" cy="1188720"/>
          </a:xfrm>
          <a:prstGeom prst="rect">
            <a:avLst/>
          </a:prstGeom>
          <a:noFill/>
          <a:ln/>
        </p:spPr>
        <p:txBody>
          <a:bodyPr wrap="square" lIns="0" tIns="0" rIns="0" bIns="0" rtlCol="0" anchor="t"/>
          <a:lstStyle/>
          <a:p>
            <a:pPr marL="285750" indent="-285750" algn="l">
              <a:spcAft>
                <a:spcPts val="600"/>
              </a:spcAft>
              <a:buSzPct val="100000"/>
              <a:buChar char="•"/>
            </a:pPr>
            <a:r>
              <a:rPr lang="en-US" sz="1400" dirty="0">
                <a:solidFill>
                  <a:schemeClr val="tx2"/>
                </a:solidFill>
              </a:rPr>
              <a:t>Larger or smaller than a size</a:t>
            </a:r>
            <a:endParaRPr lang="en-US" sz="1400" dirty="0"/>
          </a:p>
          <a:p>
            <a:pPr marL="285750" indent="-285750" algn="l">
              <a:spcAft>
                <a:spcPts val="600"/>
              </a:spcAft>
              <a:buSzPct val="100000"/>
              <a:buChar char="•"/>
            </a:pPr>
            <a:r>
              <a:rPr lang="en-US" sz="1400" dirty="0">
                <a:solidFill>
                  <a:schemeClr val="tx2"/>
                </a:solidFill>
              </a:rPr>
              <a:t>Bytes, KB, MB or GB</a:t>
            </a:r>
            <a:endParaRPr lang="en-US" sz="1400" dirty="0"/>
          </a:p>
          <a:p>
            <a:pPr marL="285750" indent="-285750" algn="l">
              <a:spcAft>
                <a:spcPts val="600"/>
              </a:spcAft>
              <a:buSzPct val="100000"/>
              <a:buChar char="•"/>
            </a:pPr>
            <a:r>
              <a:rPr lang="en-US" sz="1400" dirty="0">
                <a:solidFill>
                  <a:schemeClr val="tx2"/>
                </a:solidFill>
              </a:rPr>
              <a:t>Finds large or empty files</a:t>
            </a:r>
            <a:endParaRPr lang="en-US" sz="1400" dirty="0"/>
          </a:p>
        </p:txBody>
      </p:sp>
      <p:sp>
        <p:nvSpPr>
          <p:cNvPr id="12" name="Card 12"/>
          <p:cNvSpPr/>
          <p:nvPr/>
        </p:nvSpPr>
        <p:spPr>
          <a:xfrm>
            <a:off x="8074152" y="1371600"/>
            <a:ext cx="3566160" cy="2194560"/>
          </a:xfrm>
          <a:prstGeom prst="roundRect">
            <a:avLst>
              <a:gd name="adj" fmla="val 5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3" name="Number 13"/>
          <p:cNvSpPr/>
          <p:nvPr/>
        </p:nvSpPr>
        <p:spPr>
          <a:xfrm>
            <a:off x="8275320" y="1572768"/>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14" name="Heading 14"/>
          <p:cNvSpPr txBox="1"/>
          <p:nvPr/>
        </p:nvSpPr>
        <p:spPr>
          <a:xfrm>
            <a:off x="8851392" y="1508760"/>
            <a:ext cx="2651760" cy="594360"/>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Search Hidden / Config Files</a:t>
            </a:r>
            <a:endParaRPr lang="en-US" sz="1700" dirty="0"/>
          </a:p>
        </p:txBody>
      </p:sp>
      <p:sp>
        <p:nvSpPr>
          <p:cNvPr id="15" name="Body 15"/>
          <p:cNvSpPr txBox="1"/>
          <p:nvPr/>
        </p:nvSpPr>
        <p:spPr>
          <a:xfrm>
            <a:off x="8302752" y="2286000"/>
            <a:ext cx="3200400" cy="1188720"/>
          </a:xfrm>
          <a:prstGeom prst="rect">
            <a:avLst/>
          </a:prstGeom>
          <a:noFill/>
          <a:ln/>
        </p:spPr>
        <p:txBody>
          <a:bodyPr wrap="square" lIns="0" tIns="0" rIns="0" bIns="0" rtlCol="0" anchor="t"/>
          <a:lstStyle/>
          <a:p>
            <a:pPr marL="285750" indent="-285750" algn="l">
              <a:spcAft>
                <a:spcPts val="600"/>
              </a:spcAft>
              <a:buSzPct val="100000"/>
              <a:buChar char="•"/>
            </a:pPr>
            <a:r>
              <a:rPr lang="en-US" sz="1400" dirty="0">
                <a:solidFill>
                  <a:schemeClr val="tx2"/>
                </a:solidFill>
              </a:rPr>
              <a:t>Hidden files like .env, .bashrc, .git</a:t>
            </a:r>
            <a:endParaRPr lang="en-US" sz="1400" dirty="0"/>
          </a:p>
          <a:p>
            <a:pPr marL="285750" indent="-285750" algn="l">
              <a:spcAft>
                <a:spcPts val="600"/>
              </a:spcAft>
              <a:buSzPct val="100000"/>
              <a:buChar char="•"/>
            </a:pPr>
            <a:r>
              <a:rPr lang="en-US" sz="1400" dirty="0">
                <a:solidFill>
                  <a:schemeClr val="tx2"/>
                </a:solidFill>
              </a:rPr>
              <a:t>Optional name filter</a:t>
            </a:r>
            <a:endParaRPr lang="en-US" sz="1400" dirty="0"/>
          </a:p>
          <a:p>
            <a:pPr marL="285750" indent="-285750" algn="l">
              <a:spcAft>
                <a:spcPts val="600"/>
              </a:spcAft>
              <a:buSzPct val="100000"/>
              <a:buChar char="•"/>
            </a:pPr>
            <a:r>
              <a:rPr lang="en-US" sz="1400" dirty="0">
                <a:solidFill>
                  <a:schemeClr val="tx2"/>
                </a:solidFill>
              </a:rPr>
              <a:t>Finds project settings files</a:t>
            </a:r>
            <a:endParaRPr lang="en-US" sz="1400" dirty="0"/>
          </a:p>
        </p:txBody>
      </p:sp>
      <p:pic>
        <p:nvPicPr>
          <p:cNvPr id="16" name="Screenshot 16" descr="Terminal: Searching the Windows Desktop through /mnt/c."/>
          <p:cNvPicPr>
            <a:picLocks noChangeAspect="1"/>
          </p:cNvPicPr>
          <p:nvPr/>
        </p:nvPicPr>
        <p:blipFill>
          <a:blip r:embed="rId3"/>
          <a:stretch>
            <a:fillRect/>
          </a:stretch>
        </p:blipFill>
        <p:spPr>
          <a:xfrm>
            <a:off x="548640" y="3840480"/>
            <a:ext cx="4000500" cy="1600200"/>
          </a:xfrm>
          <a:prstGeom prst="rect">
            <a:avLst/>
          </a:prstGeom>
          <a:ln w="12700">
            <a:solidFill>
              <a:schemeClr val="accent4"/>
            </a:solidFill>
          </a:ln>
        </p:spPr>
      </p:pic>
      <p:sp>
        <p:nvSpPr>
          <p:cNvPr id="17" name="Caption 17"/>
          <p:cNvSpPr txBox="1"/>
          <p:nvPr/>
        </p:nvSpPr>
        <p:spPr>
          <a:xfrm>
            <a:off x="548640" y="5532120"/>
            <a:ext cx="4000500" cy="365760"/>
          </a:xfrm>
          <a:prstGeom prst="rect">
            <a:avLst/>
          </a:prstGeom>
          <a:noFill/>
          <a:ln/>
        </p:spPr>
        <p:txBody>
          <a:bodyPr wrap="square" lIns="0" tIns="0" rIns="0" bIns="0" rtlCol="0" anchor="t"/>
          <a:lstStyle/>
          <a:p>
            <a:pPr marL="0" indent="0" algn="l">
              <a:buNone/>
            </a:pPr>
            <a:r>
              <a:rPr lang="en-US" sz="1200" dirty="0">
                <a:solidFill>
                  <a:schemeClr val="tx2"/>
                </a:solidFill>
              </a:rPr>
              <a:t>Searching the Windows Desktop through /mnt/c.</a:t>
            </a:r>
            <a:endParaRPr lang="en-US" sz="1200" dirty="0"/>
          </a:p>
        </p:txBody>
      </p:sp>
      <p:pic>
        <p:nvPicPr>
          <p:cNvPr id="18" name="Screenshot 18" descr="Terminal: Search for files larger than 50 MB."/>
          <p:cNvPicPr>
            <a:picLocks noChangeAspect="1"/>
          </p:cNvPicPr>
          <p:nvPr/>
        </p:nvPicPr>
        <p:blipFill>
          <a:blip r:embed="rId4"/>
          <a:stretch>
            <a:fillRect/>
          </a:stretch>
        </p:blipFill>
        <p:spPr>
          <a:xfrm>
            <a:off x="4722004" y="3840480"/>
            <a:ext cx="2780348" cy="1600200"/>
          </a:xfrm>
          <a:prstGeom prst="rect">
            <a:avLst/>
          </a:prstGeom>
          <a:ln w="12700">
            <a:solidFill>
              <a:schemeClr val="accent4"/>
            </a:solidFill>
          </a:ln>
        </p:spPr>
      </p:pic>
      <p:sp>
        <p:nvSpPr>
          <p:cNvPr id="19" name="Caption 19"/>
          <p:cNvSpPr txBox="1"/>
          <p:nvPr/>
        </p:nvSpPr>
        <p:spPr>
          <a:xfrm>
            <a:off x="4722004" y="5532120"/>
            <a:ext cx="2780348" cy="365760"/>
          </a:xfrm>
          <a:prstGeom prst="rect">
            <a:avLst/>
          </a:prstGeom>
          <a:noFill/>
          <a:ln/>
        </p:spPr>
        <p:txBody>
          <a:bodyPr wrap="square" lIns="0" tIns="0" rIns="0" bIns="0" rtlCol="0" anchor="t"/>
          <a:lstStyle/>
          <a:p>
            <a:pPr marL="0" indent="0" algn="l">
              <a:buNone/>
            </a:pPr>
            <a:r>
              <a:rPr lang="en-US" sz="1200" dirty="0">
                <a:solidFill>
                  <a:schemeClr val="tx2"/>
                </a:solidFill>
              </a:rPr>
              <a:t>Search for files larger than 50 MB.</a:t>
            </a:r>
            <a:endParaRPr lang="en-US" sz="1200" dirty="0"/>
          </a:p>
        </p:txBody>
      </p:sp>
      <p:pic>
        <p:nvPicPr>
          <p:cNvPr id="20" name="Screenshot 20" descr="Terminal: Hidden file search with no filter."/>
          <p:cNvPicPr>
            <a:picLocks noChangeAspect="1"/>
          </p:cNvPicPr>
          <p:nvPr/>
        </p:nvPicPr>
        <p:blipFill>
          <a:blip r:embed="rId5"/>
          <a:stretch>
            <a:fillRect/>
          </a:stretch>
        </p:blipFill>
        <p:spPr>
          <a:xfrm>
            <a:off x="7675215" y="3840480"/>
            <a:ext cx="3965097" cy="1600200"/>
          </a:xfrm>
          <a:prstGeom prst="rect">
            <a:avLst/>
          </a:prstGeom>
          <a:ln w="12700">
            <a:solidFill>
              <a:schemeClr val="accent4"/>
            </a:solidFill>
          </a:ln>
        </p:spPr>
      </p:pic>
      <p:sp>
        <p:nvSpPr>
          <p:cNvPr id="21" name="Caption 21"/>
          <p:cNvSpPr txBox="1"/>
          <p:nvPr/>
        </p:nvSpPr>
        <p:spPr>
          <a:xfrm>
            <a:off x="7675215" y="5532120"/>
            <a:ext cx="3965097" cy="365760"/>
          </a:xfrm>
          <a:prstGeom prst="rect">
            <a:avLst/>
          </a:prstGeom>
          <a:noFill/>
          <a:ln/>
        </p:spPr>
        <p:txBody>
          <a:bodyPr wrap="square" lIns="0" tIns="0" rIns="0" bIns="0" rtlCol="0" anchor="t"/>
          <a:lstStyle/>
          <a:p>
            <a:pPr marL="0" indent="0" algn="l">
              <a:buNone/>
            </a:pPr>
            <a:r>
              <a:rPr lang="en-US" sz="1200" dirty="0">
                <a:solidFill>
                  <a:schemeClr val="tx2"/>
                </a:solidFill>
              </a:rPr>
              <a:t>Hidden file search with no filter.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Main Menu: Duplicates and Utilities</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08 / 11</a:t>
            </a:r>
            <a:endParaRPr lang="en-US" sz="1000" dirty="0"/>
          </a:p>
        </p:txBody>
      </p:sp>
      <p:sp>
        <p:nvSpPr>
          <p:cNvPr id="4" name="Card 4"/>
          <p:cNvSpPr/>
          <p:nvPr/>
        </p:nvSpPr>
        <p:spPr>
          <a:xfrm>
            <a:off x="548640" y="1371600"/>
            <a:ext cx="6949440" cy="2057400"/>
          </a:xfrm>
          <a:prstGeom prst="roundRect">
            <a:avLst>
              <a:gd name="adj" fmla="val 5333"/>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Number 5"/>
          <p:cNvSpPr/>
          <p:nvPr/>
        </p:nvSpPr>
        <p:spPr>
          <a:xfrm>
            <a:off x="777240" y="1554480"/>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6" name="Heading 6"/>
          <p:cNvSpPr txBox="1"/>
          <p:nvPr/>
        </p:nvSpPr>
        <p:spPr>
          <a:xfrm>
            <a:off x="1463040" y="1554480"/>
            <a:ext cx="5852160" cy="50292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Find Duplicate Files</a:t>
            </a:r>
            <a:endParaRPr lang="en-US" sz="1900" dirty="0"/>
          </a:p>
        </p:txBody>
      </p:sp>
      <p:sp>
        <p:nvSpPr>
          <p:cNvPr id="7" name="Step 7"/>
          <p:cNvSpPr/>
          <p:nvPr/>
        </p:nvSpPr>
        <p:spPr>
          <a:xfrm>
            <a:off x="868680" y="2286000"/>
            <a:ext cx="1828800" cy="457200"/>
          </a:xfrm>
          <a:prstGeom prst="roundRect">
            <a:avLst>
              <a:gd name="adj" fmla="val 24000"/>
            </a:avLst>
          </a:prstGeom>
          <a:solidFill>
            <a:schemeClr val="accent1"/>
          </a:solidFill>
          <a:ln w="12700">
            <a:solidFill>
              <a:schemeClr val="accent1"/>
            </a:solidFill>
            <a:prstDash val="solid"/>
          </a:ln>
        </p:spPr>
        <p:txBody>
          <a:bodyPr wrap="square" lIns="45720" tIns="0" rIns="45720" bIns="0" rtlCol="0" anchor="ctr"/>
          <a:lstStyle/>
          <a:p>
            <a:pPr marL="0" indent="0" algn="ctr">
              <a:buNone/>
            </a:pPr>
            <a:r>
              <a:rPr lang="en-US" sz="1400" b="1" dirty="0">
                <a:solidFill>
                  <a:schemeClr val="bg1"/>
                </a:solidFill>
              </a:rPr>
              <a:t>1. File size</a:t>
            </a:r>
            <a:endParaRPr lang="en-US" sz="1400" dirty="0"/>
          </a:p>
        </p:txBody>
      </p:sp>
      <p:sp>
        <p:nvSpPr>
          <p:cNvPr id="8" name="Arrow 8"/>
          <p:cNvSpPr/>
          <p:nvPr/>
        </p:nvSpPr>
        <p:spPr>
          <a:xfrm>
            <a:off x="2761488" y="2395728"/>
            <a:ext cx="237744" cy="237744"/>
          </a:xfrm>
          <a:prstGeom prst="rightArrow">
            <a:avLst/>
          </a:prstGeom>
          <a:solidFill>
            <a:schemeClr val="accent2"/>
          </a:solidFill>
          <a:ln w="12700">
            <a:solidFill>
              <a:schemeClr val="accent2"/>
            </a:solidFill>
            <a:prstDash val="solid"/>
          </a:ln>
        </p:spPr>
      </p:sp>
      <p:sp>
        <p:nvSpPr>
          <p:cNvPr id="9" name="Step 9"/>
          <p:cNvSpPr/>
          <p:nvPr/>
        </p:nvSpPr>
        <p:spPr>
          <a:xfrm>
            <a:off x="3063240" y="2286000"/>
            <a:ext cx="1828800" cy="457200"/>
          </a:xfrm>
          <a:prstGeom prst="roundRect">
            <a:avLst>
              <a:gd name="adj" fmla="val 24000"/>
            </a:avLst>
          </a:prstGeom>
          <a:solidFill>
            <a:schemeClr val="accent2"/>
          </a:solidFill>
          <a:ln w="12700">
            <a:solidFill>
              <a:schemeClr val="accent2"/>
            </a:solidFill>
            <a:prstDash val="solid"/>
          </a:ln>
        </p:spPr>
        <p:txBody>
          <a:bodyPr wrap="square" lIns="45720" tIns="0" rIns="45720" bIns="0" rtlCol="0" anchor="ctr"/>
          <a:lstStyle/>
          <a:p>
            <a:pPr marL="0" indent="0" algn="ctr">
              <a:buNone/>
            </a:pPr>
            <a:r>
              <a:rPr lang="en-US" sz="1400" b="1" dirty="0">
                <a:solidFill>
                  <a:schemeClr val="tx1"/>
                </a:solidFill>
              </a:rPr>
              <a:t>2. Hash value</a:t>
            </a:r>
            <a:endParaRPr lang="en-US" sz="1400" dirty="0"/>
          </a:p>
        </p:txBody>
      </p:sp>
      <p:sp>
        <p:nvSpPr>
          <p:cNvPr id="10" name="Arrow 10"/>
          <p:cNvSpPr/>
          <p:nvPr/>
        </p:nvSpPr>
        <p:spPr>
          <a:xfrm>
            <a:off x="4956048" y="2395728"/>
            <a:ext cx="237744" cy="237744"/>
          </a:xfrm>
          <a:prstGeom prst="rightArrow">
            <a:avLst/>
          </a:prstGeom>
          <a:solidFill>
            <a:schemeClr val="accent2"/>
          </a:solidFill>
          <a:ln w="12700">
            <a:solidFill>
              <a:schemeClr val="accent2"/>
            </a:solidFill>
            <a:prstDash val="solid"/>
          </a:ln>
        </p:spPr>
      </p:sp>
      <p:sp>
        <p:nvSpPr>
          <p:cNvPr id="11" name="Step 11"/>
          <p:cNvSpPr/>
          <p:nvPr/>
        </p:nvSpPr>
        <p:spPr>
          <a:xfrm>
            <a:off x="5257800" y="2286000"/>
            <a:ext cx="1828800" cy="457200"/>
          </a:xfrm>
          <a:prstGeom prst="roundRect">
            <a:avLst>
              <a:gd name="adj" fmla="val 24000"/>
            </a:avLst>
          </a:prstGeom>
          <a:solidFill>
            <a:schemeClr val="tx1"/>
          </a:solidFill>
          <a:ln w="12700">
            <a:solidFill>
              <a:schemeClr val="tx1"/>
            </a:solidFill>
            <a:prstDash val="solid"/>
          </a:ln>
        </p:spPr>
        <p:txBody>
          <a:bodyPr wrap="square" lIns="45720" tIns="0" rIns="45720" bIns="0" rtlCol="0" anchor="ctr"/>
          <a:lstStyle/>
          <a:p>
            <a:pPr marL="0" indent="0" algn="ctr">
              <a:buNone/>
            </a:pPr>
            <a:r>
              <a:rPr lang="en-US" sz="1400" b="1" dirty="0">
                <a:solidFill>
                  <a:schemeClr val="bg1"/>
                </a:solidFill>
              </a:rPr>
              <a:t>3. Byte check</a:t>
            </a:r>
            <a:endParaRPr lang="en-US" sz="1400" dirty="0"/>
          </a:p>
        </p:txBody>
      </p:sp>
      <p:sp>
        <p:nvSpPr>
          <p:cNvPr id="12" name="Body 12"/>
          <p:cNvSpPr txBox="1"/>
          <p:nvPr/>
        </p:nvSpPr>
        <p:spPr>
          <a:xfrm>
            <a:off x="868680" y="2926080"/>
            <a:ext cx="6400800" cy="411480"/>
          </a:xfrm>
          <a:prstGeom prst="rect">
            <a:avLst/>
          </a:prstGeom>
          <a:noFill/>
          <a:ln/>
        </p:spPr>
        <p:txBody>
          <a:bodyPr wrap="square" lIns="0" tIns="0" rIns="0" bIns="0" rtlCol="0" anchor="t"/>
          <a:lstStyle/>
          <a:p>
            <a:pPr marL="0" indent="0" algn="l">
              <a:buNone/>
            </a:pPr>
            <a:r>
              <a:rPr lang="en-US" sz="1400" dirty="0">
                <a:solidFill>
                  <a:schemeClr val="tx2"/>
                </a:solidFill>
              </a:rPr>
              <a:t>Shows groups of duplicates and the storage space that could be saved.</a:t>
            </a:r>
            <a:endParaRPr lang="en-US" sz="1400" dirty="0"/>
          </a:p>
        </p:txBody>
      </p:sp>
      <p:sp>
        <p:nvSpPr>
          <p:cNvPr id="13" name="Card 13"/>
          <p:cNvSpPr/>
          <p:nvPr/>
        </p:nvSpPr>
        <p:spPr>
          <a:xfrm>
            <a:off x="548640" y="3611880"/>
            <a:ext cx="6949440" cy="1097280"/>
          </a:xfrm>
          <a:prstGeom prst="roundRect">
            <a:avLst>
              <a:gd name="adj" fmla="val 10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4" name="Number 14"/>
          <p:cNvSpPr/>
          <p:nvPr/>
        </p:nvSpPr>
        <p:spPr>
          <a:xfrm>
            <a:off x="777240" y="3794760"/>
            <a:ext cx="502920" cy="50292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8</a:t>
            </a:r>
            <a:endParaRPr lang="en-US" sz="1600" dirty="0"/>
          </a:p>
        </p:txBody>
      </p:sp>
      <p:sp>
        <p:nvSpPr>
          <p:cNvPr id="15" name="Heading 15"/>
          <p:cNvSpPr txBox="1"/>
          <p:nvPr/>
        </p:nvSpPr>
        <p:spPr>
          <a:xfrm>
            <a:off x="1463040" y="3749040"/>
            <a:ext cx="5852160" cy="411480"/>
          </a:xfrm>
          <a:prstGeom prst="rect">
            <a:avLst/>
          </a:prstGeom>
          <a:noFill/>
          <a:ln/>
        </p:spPr>
        <p:txBody>
          <a:bodyPr wrap="square" lIns="0" tIns="0" rIns="0" bIns="0" rtlCol="0" anchor="ctr"/>
          <a:lstStyle/>
          <a:p>
            <a:pPr marL="0" indent="0" algn="l">
              <a:buNone/>
            </a:pPr>
            <a:r>
              <a:rPr lang="en-US" sz="1900" b="1" dirty="0">
                <a:solidFill>
                  <a:schemeClr val="tx1"/>
                </a:solidFill>
                <a:latin typeface="Cambria" pitchFamily="34" charset="0"/>
                <a:ea typeface="Cambria" pitchFamily="34" charset="-122"/>
                <a:cs typeface="Cambria" pitchFamily="34" charset="-120"/>
              </a:rPr>
              <a:t>Benchmark Performance</a:t>
            </a:r>
            <a:endParaRPr lang="en-US" sz="1900" dirty="0"/>
          </a:p>
        </p:txBody>
      </p:sp>
      <p:sp>
        <p:nvSpPr>
          <p:cNvPr id="16" name="Body 16"/>
          <p:cNvSpPr txBox="1"/>
          <p:nvPr/>
        </p:nvSpPr>
        <p:spPr>
          <a:xfrm>
            <a:off x="1463040" y="4187952"/>
            <a:ext cx="5852160" cy="457200"/>
          </a:xfrm>
          <a:prstGeom prst="rect">
            <a:avLst/>
          </a:prstGeom>
          <a:noFill/>
          <a:ln/>
        </p:spPr>
        <p:txBody>
          <a:bodyPr wrap="square" lIns="0" tIns="0" rIns="0" bIns="0" rtlCol="0" anchor="t"/>
          <a:lstStyle/>
          <a:p>
            <a:pPr marL="0" indent="0" algn="l">
              <a:buNone/>
            </a:pPr>
            <a:r>
              <a:rPr lang="en-US" sz="1400" dirty="0">
                <a:solidFill>
                  <a:schemeClr val="tx2"/>
                </a:solidFill>
              </a:rPr>
              <a:t>Runs the search with 1, 2, 4, 8 and 12 threads and compares the speed.</a:t>
            </a:r>
            <a:endParaRPr lang="en-US" sz="1400" dirty="0"/>
          </a:p>
        </p:txBody>
      </p:sp>
      <p:sp>
        <p:nvSpPr>
          <p:cNvPr id="17" name="Card 17"/>
          <p:cNvSpPr/>
          <p:nvPr/>
        </p:nvSpPr>
        <p:spPr>
          <a:xfrm>
            <a:off x="548640" y="4892040"/>
            <a:ext cx="3383280" cy="1280160"/>
          </a:xfrm>
          <a:prstGeom prst="roundRect">
            <a:avLst>
              <a:gd name="adj" fmla="val 857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8" name="Number 18"/>
          <p:cNvSpPr/>
          <p:nvPr/>
        </p:nvSpPr>
        <p:spPr>
          <a:xfrm>
            <a:off x="731520" y="5029200"/>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500" b="1" dirty="0">
                <a:solidFill>
                  <a:schemeClr val="bg1"/>
                </a:solidFill>
              </a:rPr>
              <a:t>9</a:t>
            </a:r>
            <a:endParaRPr lang="en-US" sz="1500" dirty="0"/>
          </a:p>
        </p:txBody>
      </p:sp>
      <p:sp>
        <p:nvSpPr>
          <p:cNvPr id="19" name="Heading 19"/>
          <p:cNvSpPr txBox="1"/>
          <p:nvPr/>
        </p:nvSpPr>
        <p:spPr>
          <a:xfrm>
            <a:off x="1325880" y="4983480"/>
            <a:ext cx="2468880" cy="64008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View Search History Log</a:t>
            </a:r>
            <a:endParaRPr lang="en-US" sz="1600" dirty="0"/>
          </a:p>
        </p:txBody>
      </p:sp>
      <p:sp>
        <p:nvSpPr>
          <p:cNvPr id="20" name="Body 20"/>
          <p:cNvSpPr txBox="1"/>
          <p:nvPr/>
        </p:nvSpPr>
        <p:spPr>
          <a:xfrm>
            <a:off x="777240" y="5669280"/>
            <a:ext cx="2971800" cy="457200"/>
          </a:xfrm>
          <a:prstGeom prst="rect">
            <a:avLst/>
          </a:prstGeom>
          <a:noFill/>
          <a:ln/>
        </p:spPr>
        <p:txBody>
          <a:bodyPr wrap="square" lIns="0" tIns="0" rIns="0" bIns="0" rtlCol="0" anchor="t"/>
          <a:lstStyle/>
          <a:p>
            <a:pPr marL="0" indent="0" algn="l">
              <a:buNone/>
            </a:pPr>
            <a:r>
              <a:rPr lang="en-US" sz="1300" dirty="0">
                <a:solidFill>
                  <a:schemeClr val="tx2"/>
                </a:solidFill>
              </a:rPr>
              <a:t>Shows past searches and their times</a:t>
            </a:r>
            <a:endParaRPr lang="en-US" sz="1300" dirty="0"/>
          </a:p>
        </p:txBody>
      </p:sp>
      <p:sp>
        <p:nvSpPr>
          <p:cNvPr id="21" name="Card 21"/>
          <p:cNvSpPr/>
          <p:nvPr/>
        </p:nvSpPr>
        <p:spPr>
          <a:xfrm>
            <a:off x="4114800" y="4892040"/>
            <a:ext cx="3383280" cy="1280160"/>
          </a:xfrm>
          <a:prstGeom prst="roundRect">
            <a:avLst>
              <a:gd name="adj" fmla="val 857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2" name="Number 22"/>
          <p:cNvSpPr/>
          <p:nvPr/>
        </p:nvSpPr>
        <p:spPr>
          <a:xfrm>
            <a:off x="4297680" y="5029200"/>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400" b="1" dirty="0">
                <a:solidFill>
                  <a:schemeClr val="bg1"/>
                </a:solidFill>
              </a:rPr>
              <a:t>10</a:t>
            </a:r>
            <a:endParaRPr lang="en-US" sz="1400" dirty="0"/>
          </a:p>
        </p:txBody>
      </p:sp>
      <p:sp>
        <p:nvSpPr>
          <p:cNvPr id="23" name="Heading 23"/>
          <p:cNvSpPr txBox="1"/>
          <p:nvPr/>
        </p:nvSpPr>
        <p:spPr>
          <a:xfrm>
            <a:off x="4892040" y="4983480"/>
            <a:ext cx="2468880" cy="64008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Exit</a:t>
            </a:r>
            <a:endParaRPr lang="en-US" sz="1600" dirty="0"/>
          </a:p>
        </p:txBody>
      </p:sp>
      <p:sp>
        <p:nvSpPr>
          <p:cNvPr id="24" name="Body 24"/>
          <p:cNvSpPr txBox="1"/>
          <p:nvPr/>
        </p:nvSpPr>
        <p:spPr>
          <a:xfrm>
            <a:off x="4343400" y="5669280"/>
            <a:ext cx="2971800" cy="457200"/>
          </a:xfrm>
          <a:prstGeom prst="rect">
            <a:avLst/>
          </a:prstGeom>
          <a:noFill/>
          <a:ln/>
        </p:spPr>
        <p:txBody>
          <a:bodyPr wrap="square" lIns="0" tIns="0" rIns="0" bIns="0" rtlCol="0" anchor="t"/>
          <a:lstStyle/>
          <a:p>
            <a:pPr marL="0" indent="0" algn="l">
              <a:buNone/>
            </a:pPr>
            <a:r>
              <a:rPr lang="en-US" sz="1300" dirty="0">
                <a:solidFill>
                  <a:schemeClr val="tx2"/>
                </a:solidFill>
              </a:rPr>
              <a:t>Closes the program safely</a:t>
            </a:r>
            <a:endParaRPr lang="en-US" sz="1300" dirty="0"/>
          </a:p>
        </p:txBody>
      </p:sp>
      <p:pic>
        <p:nvPicPr>
          <p:cNvPr id="25" name="Screenshot 25" descr="Terminal: performance comparison"/>
          <p:cNvPicPr>
            <a:picLocks noChangeAspect="1"/>
          </p:cNvPicPr>
          <p:nvPr/>
        </p:nvPicPr>
        <p:blipFill>
          <a:blip r:embed="rId3"/>
          <a:stretch>
            <a:fillRect/>
          </a:stretch>
        </p:blipFill>
        <p:spPr>
          <a:xfrm>
            <a:off x="7891272" y="1371600"/>
            <a:ext cx="3749040" cy="1936639"/>
          </a:xfrm>
          <a:prstGeom prst="rect">
            <a:avLst/>
          </a:prstGeom>
          <a:ln w="12700">
            <a:solidFill>
              <a:schemeClr val="accent4"/>
            </a:solidFill>
          </a:ln>
        </p:spPr>
      </p:pic>
      <p:sp>
        <p:nvSpPr>
          <p:cNvPr id="26" name="Caption 26"/>
          <p:cNvSpPr txBox="1"/>
          <p:nvPr/>
        </p:nvSpPr>
        <p:spPr>
          <a:xfrm>
            <a:off x="7891272" y="3353959"/>
            <a:ext cx="3749040" cy="320040"/>
          </a:xfrm>
          <a:prstGeom prst="rect">
            <a:avLst/>
          </a:prstGeom>
          <a:noFill/>
          <a:ln/>
        </p:spPr>
        <p:txBody>
          <a:bodyPr wrap="square" lIns="0" tIns="0" rIns="0" bIns="0" rtlCol="0" anchor="t"/>
          <a:lstStyle/>
          <a:p>
            <a:pPr marL="0" indent="0" algn="l">
              <a:buNone/>
            </a:pPr>
            <a:r>
              <a:rPr lang="en-US" sz="1200" dirty="0">
                <a:solidFill>
                  <a:schemeClr val="tx2"/>
                </a:solidFill>
              </a:rPr>
              <a:t>Test with 1, 2, 4, 8 and 12 threads.</a:t>
            </a:r>
            <a:endParaRPr lang="en-US" sz="1200" dirty="0"/>
          </a:p>
        </p:txBody>
      </p:sp>
      <p:pic>
        <p:nvPicPr>
          <p:cNvPr id="27" name="Screenshot 27" descr="Terminal: duplicate search"/>
          <p:cNvPicPr>
            <a:picLocks noChangeAspect="1"/>
          </p:cNvPicPr>
          <p:nvPr/>
        </p:nvPicPr>
        <p:blipFill>
          <a:blip r:embed="rId4"/>
          <a:stretch>
            <a:fillRect/>
          </a:stretch>
        </p:blipFill>
        <p:spPr>
          <a:xfrm>
            <a:off x="7891272" y="3931920"/>
            <a:ext cx="3749040" cy="1820073"/>
          </a:xfrm>
          <a:prstGeom prst="rect">
            <a:avLst/>
          </a:prstGeom>
          <a:ln w="12700">
            <a:solidFill>
              <a:schemeClr val="accent4"/>
            </a:solidFill>
          </a:ln>
        </p:spPr>
      </p:pic>
      <p:sp>
        <p:nvSpPr>
          <p:cNvPr id="28" name="Caption 28"/>
          <p:cNvSpPr txBox="1"/>
          <p:nvPr/>
        </p:nvSpPr>
        <p:spPr>
          <a:xfrm>
            <a:off x="7891272" y="5797713"/>
            <a:ext cx="3749040" cy="320040"/>
          </a:xfrm>
          <a:prstGeom prst="rect">
            <a:avLst/>
          </a:prstGeom>
          <a:noFill/>
          <a:ln/>
        </p:spPr>
        <p:txBody>
          <a:bodyPr wrap="square" lIns="0" tIns="0" rIns="0" bIns="0" rtlCol="0" anchor="t"/>
          <a:lstStyle/>
          <a:p>
            <a:pPr marL="0" indent="0" algn="l">
              <a:buNone/>
            </a:pPr>
            <a:r>
              <a:rPr lang="en-US" sz="1200" dirty="0">
                <a:solidFill>
                  <a:schemeClr val="tx2"/>
                </a:solidFill>
              </a:rPr>
              <a:t>Checked 6 files, found no duplicates.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Algorithms and Multithreading</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09 / 11</a:t>
            </a:r>
            <a:endParaRPr lang="en-US" sz="1000" dirty="0"/>
          </a:p>
        </p:txBody>
      </p:sp>
      <p:sp>
        <p:nvSpPr>
          <p:cNvPr id="4" name="Card 4"/>
          <p:cNvSpPr/>
          <p:nvPr/>
        </p:nvSpPr>
        <p:spPr>
          <a:xfrm>
            <a:off x="548640" y="1371600"/>
            <a:ext cx="5486400" cy="2880360"/>
          </a:xfrm>
          <a:prstGeom prst="roundRect">
            <a:avLst>
              <a:gd name="adj" fmla="val 3809"/>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5" name="Label 5"/>
          <p:cNvSpPr txBox="1"/>
          <p:nvPr/>
        </p:nvSpPr>
        <p:spPr>
          <a:xfrm>
            <a:off x="822960" y="1481328"/>
            <a:ext cx="4937760" cy="36576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How the threads share the work</a:t>
            </a:r>
            <a:endParaRPr lang="en-US" sz="1600" dirty="0"/>
          </a:p>
        </p:txBody>
      </p:sp>
      <p:sp>
        <p:nvSpPr>
          <p:cNvPr id="6" name="Box 6"/>
          <p:cNvSpPr/>
          <p:nvPr/>
        </p:nvSpPr>
        <p:spPr>
          <a:xfrm>
            <a:off x="1645920" y="1965960"/>
            <a:ext cx="3291840" cy="457200"/>
          </a:xfrm>
          <a:prstGeom prst="roundRect">
            <a:avLst>
              <a:gd name="adj" fmla="val 24000"/>
            </a:avLst>
          </a:prstGeom>
          <a:solidFill>
            <a:schemeClr val="tx1"/>
          </a:solidFill>
          <a:ln w="12700">
            <a:solidFill>
              <a:schemeClr val="tx1"/>
            </a:solidFill>
            <a:prstDash val="solid"/>
          </a:ln>
        </p:spPr>
        <p:txBody>
          <a:bodyPr wrap="square" lIns="45720" tIns="0" rIns="45720" bIns="0" rtlCol="0" anchor="ctr"/>
          <a:lstStyle/>
          <a:p>
            <a:pPr marL="0" indent="0" algn="ctr">
              <a:buNone/>
            </a:pPr>
            <a:r>
              <a:rPr lang="en-US" sz="1500" b="1" dirty="0">
                <a:solidFill>
                  <a:schemeClr val="bg1"/>
                </a:solidFill>
              </a:rPr>
              <a:t>Shared Task List</a:t>
            </a:r>
            <a:endParaRPr lang="en-US" sz="1500" dirty="0"/>
          </a:p>
        </p:txBody>
      </p:sp>
      <p:sp>
        <p:nvSpPr>
          <p:cNvPr id="7" name="Arrow 7"/>
          <p:cNvSpPr/>
          <p:nvPr/>
        </p:nvSpPr>
        <p:spPr>
          <a:xfrm>
            <a:off x="1481328" y="2468880"/>
            <a:ext cx="237744" cy="256032"/>
          </a:xfrm>
          <a:prstGeom prst="downArrow">
            <a:avLst/>
          </a:prstGeom>
          <a:solidFill>
            <a:schemeClr val="accent2"/>
          </a:solidFill>
          <a:ln w="12700">
            <a:solidFill>
              <a:schemeClr val="accent2"/>
            </a:solidFill>
            <a:prstDash val="solid"/>
          </a:ln>
        </p:spPr>
      </p:sp>
      <p:sp>
        <p:nvSpPr>
          <p:cNvPr id="8" name="Worker 8"/>
          <p:cNvSpPr/>
          <p:nvPr/>
        </p:nvSpPr>
        <p:spPr>
          <a:xfrm>
            <a:off x="822960" y="2788920"/>
            <a:ext cx="1554480" cy="457200"/>
          </a:xfrm>
          <a:prstGeom prst="roundRect">
            <a:avLst>
              <a:gd name="adj" fmla="val 24000"/>
            </a:avLst>
          </a:prstGeom>
          <a:solidFill>
            <a:schemeClr val="accent3"/>
          </a:solidFill>
          <a:ln w="12700">
            <a:solidFill>
              <a:schemeClr val="accent3"/>
            </a:solidFill>
            <a:prstDash val="solid"/>
          </a:ln>
        </p:spPr>
        <p:txBody>
          <a:bodyPr wrap="square" lIns="45720" tIns="0" rIns="45720" bIns="0" rtlCol="0" anchor="ctr"/>
          <a:lstStyle/>
          <a:p>
            <a:pPr marL="0" indent="0" algn="ctr">
              <a:buNone/>
            </a:pPr>
            <a:r>
              <a:rPr lang="en-US" sz="1400" b="1" dirty="0">
                <a:solidFill>
                  <a:schemeClr val="bg1"/>
                </a:solidFill>
              </a:rPr>
              <a:t>Worker 1</a:t>
            </a:r>
            <a:endParaRPr lang="en-US" sz="1400" dirty="0"/>
          </a:p>
        </p:txBody>
      </p:sp>
      <p:sp>
        <p:nvSpPr>
          <p:cNvPr id="9" name="Arrow 9"/>
          <p:cNvSpPr/>
          <p:nvPr/>
        </p:nvSpPr>
        <p:spPr>
          <a:xfrm>
            <a:off x="3172968" y="2468880"/>
            <a:ext cx="237744" cy="256032"/>
          </a:xfrm>
          <a:prstGeom prst="downArrow">
            <a:avLst/>
          </a:prstGeom>
          <a:solidFill>
            <a:schemeClr val="accent2"/>
          </a:solidFill>
          <a:ln w="12700">
            <a:solidFill>
              <a:schemeClr val="accent2"/>
            </a:solidFill>
            <a:prstDash val="solid"/>
          </a:ln>
        </p:spPr>
      </p:sp>
      <p:sp>
        <p:nvSpPr>
          <p:cNvPr id="10" name="Worker 10"/>
          <p:cNvSpPr/>
          <p:nvPr/>
        </p:nvSpPr>
        <p:spPr>
          <a:xfrm>
            <a:off x="2514600" y="2788920"/>
            <a:ext cx="1554480" cy="457200"/>
          </a:xfrm>
          <a:prstGeom prst="roundRect">
            <a:avLst>
              <a:gd name="adj" fmla="val 24000"/>
            </a:avLst>
          </a:prstGeom>
          <a:solidFill>
            <a:schemeClr val="accent1"/>
          </a:solidFill>
          <a:ln w="12700">
            <a:solidFill>
              <a:schemeClr val="accent1"/>
            </a:solidFill>
            <a:prstDash val="solid"/>
          </a:ln>
        </p:spPr>
        <p:txBody>
          <a:bodyPr wrap="square" lIns="45720" tIns="0" rIns="45720" bIns="0" rtlCol="0" anchor="ctr"/>
          <a:lstStyle/>
          <a:p>
            <a:pPr marL="0" indent="0" algn="ctr">
              <a:buNone/>
            </a:pPr>
            <a:r>
              <a:rPr lang="en-US" sz="1400" b="1" dirty="0">
                <a:solidFill>
                  <a:schemeClr val="bg1"/>
                </a:solidFill>
              </a:rPr>
              <a:t>Worker 2</a:t>
            </a:r>
            <a:endParaRPr lang="en-US" sz="1400" dirty="0"/>
          </a:p>
        </p:txBody>
      </p:sp>
      <p:sp>
        <p:nvSpPr>
          <p:cNvPr id="11" name="Arrow 11"/>
          <p:cNvSpPr/>
          <p:nvPr/>
        </p:nvSpPr>
        <p:spPr>
          <a:xfrm>
            <a:off x="4864608" y="2468880"/>
            <a:ext cx="237744" cy="256032"/>
          </a:xfrm>
          <a:prstGeom prst="downArrow">
            <a:avLst/>
          </a:prstGeom>
          <a:solidFill>
            <a:schemeClr val="accent2"/>
          </a:solidFill>
          <a:ln w="12700">
            <a:solidFill>
              <a:schemeClr val="accent2"/>
            </a:solidFill>
            <a:prstDash val="solid"/>
          </a:ln>
        </p:spPr>
      </p:sp>
      <p:sp>
        <p:nvSpPr>
          <p:cNvPr id="12" name="Worker 12"/>
          <p:cNvSpPr/>
          <p:nvPr/>
        </p:nvSpPr>
        <p:spPr>
          <a:xfrm>
            <a:off x="4206240" y="2788920"/>
            <a:ext cx="1554480" cy="457200"/>
          </a:xfrm>
          <a:prstGeom prst="roundRect">
            <a:avLst>
              <a:gd name="adj" fmla="val 24000"/>
            </a:avLst>
          </a:prstGeom>
          <a:solidFill>
            <a:schemeClr val="accent2"/>
          </a:solidFill>
          <a:ln w="12700">
            <a:solidFill>
              <a:schemeClr val="accent2"/>
            </a:solidFill>
            <a:prstDash val="solid"/>
          </a:ln>
        </p:spPr>
        <p:txBody>
          <a:bodyPr wrap="square" lIns="45720" tIns="0" rIns="45720" bIns="0" rtlCol="0" anchor="ctr"/>
          <a:lstStyle/>
          <a:p>
            <a:pPr marL="0" indent="0" algn="ctr">
              <a:buNone/>
            </a:pPr>
            <a:r>
              <a:rPr lang="en-US" sz="1400" b="1" dirty="0">
                <a:solidFill>
                  <a:schemeClr val="tx1"/>
                </a:solidFill>
              </a:rPr>
              <a:t>Worker N</a:t>
            </a:r>
            <a:endParaRPr lang="en-US" sz="1400" dirty="0"/>
          </a:p>
        </p:txBody>
      </p:sp>
      <p:sp>
        <p:nvSpPr>
          <p:cNvPr id="13" name="Arrow 13"/>
          <p:cNvSpPr/>
          <p:nvPr/>
        </p:nvSpPr>
        <p:spPr>
          <a:xfrm>
            <a:off x="3172968" y="3291840"/>
            <a:ext cx="237744" cy="228600"/>
          </a:xfrm>
          <a:prstGeom prst="downArrow">
            <a:avLst/>
          </a:prstGeom>
          <a:solidFill>
            <a:schemeClr val="accent2"/>
          </a:solidFill>
          <a:ln w="12700">
            <a:solidFill>
              <a:schemeClr val="accent2"/>
            </a:solidFill>
            <a:prstDash val="solid"/>
          </a:ln>
        </p:spPr>
      </p:sp>
      <p:sp>
        <p:nvSpPr>
          <p:cNvPr id="14" name="Box 14"/>
          <p:cNvSpPr/>
          <p:nvPr/>
        </p:nvSpPr>
        <p:spPr>
          <a:xfrm>
            <a:off x="1280160" y="3566160"/>
            <a:ext cx="4023360" cy="457200"/>
          </a:xfrm>
          <a:prstGeom prst="roundRect">
            <a:avLst>
              <a:gd name="adj" fmla="val 24000"/>
            </a:avLst>
          </a:prstGeom>
          <a:solidFill>
            <a:schemeClr val="accent5"/>
          </a:solidFill>
          <a:ln w="12700">
            <a:solidFill>
              <a:schemeClr val="accent5"/>
            </a:solidFill>
            <a:prstDash val="solid"/>
          </a:ln>
        </p:spPr>
        <p:txBody>
          <a:bodyPr wrap="square" lIns="45720" tIns="0" rIns="45720" bIns="0" rtlCol="0" anchor="ctr"/>
          <a:lstStyle/>
          <a:p>
            <a:pPr marL="0" indent="0" algn="ctr">
              <a:buNone/>
            </a:pPr>
            <a:r>
              <a:rPr lang="en-US" sz="1300" b="1" dirty="0">
                <a:solidFill>
                  <a:schemeClr val="bg1"/>
                </a:solidFill>
              </a:rPr>
              <a:t>Results and Statistics (protected by a mutex)</a:t>
            </a:r>
            <a:endParaRPr lang="en-US" sz="1300" dirty="0"/>
          </a:p>
        </p:txBody>
      </p:sp>
      <p:sp>
        <p:nvSpPr>
          <p:cNvPr id="15" name="Card 15"/>
          <p:cNvSpPr/>
          <p:nvPr/>
        </p:nvSpPr>
        <p:spPr>
          <a:xfrm>
            <a:off x="548640" y="4434840"/>
            <a:ext cx="5486400" cy="1737360"/>
          </a:xfrm>
          <a:prstGeom prst="roundRect">
            <a:avLst>
              <a:gd name="adj" fmla="val 6315"/>
            </a:avLst>
          </a:prstGeom>
          <a:solidFill>
            <a:schemeClr val="bg1"/>
          </a:solidFill>
          <a:ln w="12700">
            <a:solidFill>
              <a:schemeClr val="accent4"/>
            </a:solidFill>
            <a:prstDash val="solid"/>
          </a:ln>
          <a:effectLst>
            <a:outerShdw blurRad="101600" dist="25400" dir="5400000" algn="bl" rotWithShape="0">
              <a:srgbClr val="0B2545">
                <a:alpha val="10000"/>
              </a:srgbClr>
            </a:outerShdw>
          </a:effectLst>
        </p:spPr>
      </p:sp>
      <p:sp>
        <p:nvSpPr>
          <p:cNvPr id="16" name="Label 16"/>
          <p:cNvSpPr txBox="1"/>
          <p:nvPr/>
        </p:nvSpPr>
        <p:spPr>
          <a:xfrm>
            <a:off x="822960" y="4526280"/>
            <a:ext cx="4937760" cy="36576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How duplicate files are found</a:t>
            </a:r>
            <a:endParaRPr lang="en-US" sz="1600" dirty="0"/>
          </a:p>
        </p:txBody>
      </p:sp>
      <p:sp>
        <p:nvSpPr>
          <p:cNvPr id="17" name="Step 17"/>
          <p:cNvSpPr/>
          <p:nvPr/>
        </p:nvSpPr>
        <p:spPr>
          <a:xfrm>
            <a:off x="777240" y="4956048"/>
            <a:ext cx="1463040" cy="411480"/>
          </a:xfrm>
          <a:prstGeom prst="roundRect">
            <a:avLst>
              <a:gd name="adj" fmla="val 26666"/>
            </a:avLst>
          </a:prstGeom>
          <a:solidFill>
            <a:schemeClr val="accent1"/>
          </a:solidFill>
          <a:ln w="12700">
            <a:solidFill>
              <a:schemeClr val="accent1"/>
            </a:solidFill>
            <a:prstDash val="solid"/>
          </a:ln>
        </p:spPr>
        <p:txBody>
          <a:bodyPr wrap="square" lIns="45720" tIns="0" rIns="45720" bIns="0" rtlCol="0" anchor="ctr"/>
          <a:lstStyle/>
          <a:p>
            <a:pPr marL="0" indent="0" algn="ctr">
              <a:buNone/>
            </a:pPr>
            <a:r>
              <a:rPr lang="en-US" sz="1300" b="1" dirty="0">
                <a:solidFill>
                  <a:schemeClr val="bg1"/>
                </a:solidFill>
              </a:rPr>
              <a:t>1. Same size</a:t>
            </a:r>
            <a:endParaRPr lang="en-US" sz="1300" dirty="0"/>
          </a:p>
        </p:txBody>
      </p:sp>
      <p:sp>
        <p:nvSpPr>
          <p:cNvPr id="18" name="Arrow 18"/>
          <p:cNvSpPr/>
          <p:nvPr/>
        </p:nvSpPr>
        <p:spPr>
          <a:xfrm>
            <a:off x="2267712" y="5047488"/>
            <a:ext cx="201168" cy="219456"/>
          </a:xfrm>
          <a:prstGeom prst="rightArrow">
            <a:avLst/>
          </a:prstGeom>
          <a:solidFill>
            <a:schemeClr val="accent2"/>
          </a:solidFill>
          <a:ln w="12700">
            <a:solidFill>
              <a:schemeClr val="accent2"/>
            </a:solidFill>
            <a:prstDash val="solid"/>
          </a:ln>
        </p:spPr>
      </p:sp>
      <p:sp>
        <p:nvSpPr>
          <p:cNvPr id="19" name="Step 19"/>
          <p:cNvSpPr/>
          <p:nvPr/>
        </p:nvSpPr>
        <p:spPr>
          <a:xfrm>
            <a:off x="2496312" y="4956048"/>
            <a:ext cx="1463040" cy="411480"/>
          </a:xfrm>
          <a:prstGeom prst="roundRect">
            <a:avLst>
              <a:gd name="adj" fmla="val 26666"/>
            </a:avLst>
          </a:prstGeom>
          <a:solidFill>
            <a:schemeClr val="accent2"/>
          </a:solidFill>
          <a:ln w="12700">
            <a:solidFill>
              <a:schemeClr val="accent2"/>
            </a:solidFill>
            <a:prstDash val="solid"/>
          </a:ln>
        </p:spPr>
        <p:txBody>
          <a:bodyPr wrap="square" lIns="45720" tIns="0" rIns="45720" bIns="0" rtlCol="0" anchor="ctr"/>
          <a:lstStyle/>
          <a:p>
            <a:pPr marL="0" indent="0" algn="ctr">
              <a:buNone/>
            </a:pPr>
            <a:r>
              <a:rPr lang="en-US" sz="1300" b="1" dirty="0">
                <a:solidFill>
                  <a:schemeClr val="tx1"/>
                </a:solidFill>
              </a:rPr>
              <a:t>2. Same hash</a:t>
            </a:r>
            <a:endParaRPr lang="en-US" sz="1300" dirty="0"/>
          </a:p>
        </p:txBody>
      </p:sp>
      <p:sp>
        <p:nvSpPr>
          <p:cNvPr id="20" name="Arrow 20"/>
          <p:cNvSpPr/>
          <p:nvPr/>
        </p:nvSpPr>
        <p:spPr>
          <a:xfrm>
            <a:off x="3986784" y="5047488"/>
            <a:ext cx="201168" cy="219456"/>
          </a:xfrm>
          <a:prstGeom prst="rightArrow">
            <a:avLst/>
          </a:prstGeom>
          <a:solidFill>
            <a:schemeClr val="accent2"/>
          </a:solidFill>
          <a:ln w="12700">
            <a:solidFill>
              <a:schemeClr val="accent2"/>
            </a:solidFill>
            <a:prstDash val="solid"/>
          </a:ln>
        </p:spPr>
      </p:sp>
      <p:sp>
        <p:nvSpPr>
          <p:cNvPr id="21" name="Step 21"/>
          <p:cNvSpPr/>
          <p:nvPr/>
        </p:nvSpPr>
        <p:spPr>
          <a:xfrm>
            <a:off x="4215384" y="4956048"/>
            <a:ext cx="1463040" cy="411480"/>
          </a:xfrm>
          <a:prstGeom prst="roundRect">
            <a:avLst>
              <a:gd name="adj" fmla="val 26666"/>
            </a:avLst>
          </a:prstGeom>
          <a:solidFill>
            <a:schemeClr val="tx1"/>
          </a:solidFill>
          <a:ln w="12700">
            <a:solidFill>
              <a:schemeClr val="tx1"/>
            </a:solidFill>
            <a:prstDash val="solid"/>
          </a:ln>
        </p:spPr>
        <p:txBody>
          <a:bodyPr wrap="square" lIns="45720" tIns="0" rIns="45720" bIns="0" rtlCol="0" anchor="ctr"/>
          <a:lstStyle/>
          <a:p>
            <a:pPr marL="0" indent="0" algn="ctr">
              <a:buNone/>
            </a:pPr>
            <a:r>
              <a:rPr lang="en-US" sz="1300" b="1" dirty="0">
                <a:solidFill>
                  <a:schemeClr val="bg1"/>
                </a:solidFill>
              </a:rPr>
              <a:t>3. Same bytes</a:t>
            </a:r>
            <a:endParaRPr lang="en-US" sz="1300" dirty="0"/>
          </a:p>
        </p:txBody>
      </p:sp>
      <p:sp>
        <p:nvSpPr>
          <p:cNvPr id="22" name="Explain 22"/>
          <p:cNvSpPr txBox="1"/>
          <p:nvPr/>
        </p:nvSpPr>
        <p:spPr>
          <a:xfrm>
            <a:off x="822960" y="5486400"/>
            <a:ext cx="5074920" cy="640080"/>
          </a:xfrm>
          <a:prstGeom prst="rect">
            <a:avLst/>
          </a:prstGeom>
          <a:noFill/>
          <a:ln/>
        </p:spPr>
        <p:txBody>
          <a:bodyPr wrap="square" lIns="0" tIns="0" rIns="0" bIns="0" rtlCol="0" anchor="t"/>
          <a:lstStyle/>
          <a:p>
            <a:pPr marL="0" indent="0" algn="l">
              <a:spcAft>
                <a:spcPts val="300"/>
              </a:spcAft>
              <a:buNone/>
            </a:pPr>
            <a:r>
              <a:rPr lang="en-US" sz="1200" b="1" dirty="0">
                <a:solidFill>
                  <a:schemeClr val="tx1"/>
                </a:solidFill>
              </a:rPr>
              <a:t>FNV-1a: </a:t>
            </a:r>
            <a:r>
              <a:rPr lang="en-US" sz="1200" dirty="0">
                <a:solidFill>
                  <a:schemeClr val="tx2"/>
                </a:solidFill>
              </a:rPr>
              <a:t>a method that calculates a short value from file contents.</a:t>
            </a:r>
            <a:endParaRPr lang="en-US" sz="1200" dirty="0"/>
          </a:p>
          <a:p>
            <a:pPr marL="0" indent="0" algn="l">
              <a:buNone/>
            </a:pPr>
            <a:r>
              <a:rPr lang="en-US" sz="1200" b="1" dirty="0">
                <a:solidFill>
                  <a:schemeClr val="tx1"/>
                </a:solidFill>
              </a:rPr>
              <a:t>memcmp: </a:t>
            </a:r>
            <a:r>
              <a:rPr lang="en-US" sz="1200" dirty="0">
                <a:solidFill>
                  <a:schemeClr val="tx2"/>
                </a:solidFill>
              </a:rPr>
              <a:t>a function that compares file contents byte by byte.</a:t>
            </a:r>
            <a:endParaRPr lang="en-US" sz="1200" dirty="0"/>
          </a:p>
        </p:txBody>
      </p:sp>
      <p:sp>
        <p:nvSpPr>
          <p:cNvPr id="23" name="Card 23"/>
          <p:cNvSpPr/>
          <p:nvPr/>
        </p:nvSpPr>
        <p:spPr>
          <a:xfrm>
            <a:off x="6309360" y="1371600"/>
            <a:ext cx="5330952" cy="1097280"/>
          </a:xfrm>
          <a:prstGeom prst="roundRect">
            <a:avLst>
              <a:gd name="adj" fmla="val 10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4" name="Number 24"/>
          <p:cNvSpPr/>
          <p:nvPr/>
        </p:nvSpPr>
        <p:spPr>
          <a:xfrm>
            <a:off x="6492240" y="153619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25" name="Heading 25"/>
          <p:cNvSpPr txBox="1"/>
          <p:nvPr/>
        </p:nvSpPr>
        <p:spPr>
          <a:xfrm>
            <a:off x="7132320" y="1463040"/>
            <a:ext cx="4343400" cy="347472"/>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Workers share the tasks</a:t>
            </a:r>
            <a:endParaRPr lang="en-US" sz="1700" dirty="0"/>
          </a:p>
        </p:txBody>
      </p:sp>
      <p:sp>
        <p:nvSpPr>
          <p:cNvPr id="26" name="Body 26"/>
          <p:cNvSpPr txBox="1"/>
          <p:nvPr/>
        </p:nvSpPr>
        <p:spPr>
          <a:xfrm>
            <a:off x="7132320" y="1847088"/>
            <a:ext cx="4343400" cy="566928"/>
          </a:xfrm>
          <a:prstGeom prst="rect">
            <a:avLst/>
          </a:prstGeom>
          <a:noFill/>
          <a:ln/>
        </p:spPr>
        <p:txBody>
          <a:bodyPr wrap="square" lIns="0" tIns="0" rIns="0" bIns="0" rtlCol="0" anchor="t"/>
          <a:lstStyle/>
          <a:p>
            <a:pPr marL="0" indent="0" algn="l">
              <a:buNone/>
            </a:pPr>
            <a:r>
              <a:rPr lang="en-US" sz="1300" dirty="0">
                <a:solidFill>
                  <a:schemeClr val="tx2"/>
                </a:solidFill>
              </a:rPr>
              <a:t>Several worker threads take search tasks from one shared task list.</a:t>
            </a:r>
            <a:endParaRPr lang="en-US" sz="1300" dirty="0"/>
          </a:p>
        </p:txBody>
      </p:sp>
      <p:sp>
        <p:nvSpPr>
          <p:cNvPr id="27" name="Card 27"/>
          <p:cNvSpPr/>
          <p:nvPr/>
        </p:nvSpPr>
        <p:spPr>
          <a:xfrm>
            <a:off x="6309360" y="2606040"/>
            <a:ext cx="5330952" cy="1097280"/>
          </a:xfrm>
          <a:prstGeom prst="roundRect">
            <a:avLst>
              <a:gd name="adj" fmla="val 10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8" name="Number 28"/>
          <p:cNvSpPr/>
          <p:nvPr/>
        </p:nvSpPr>
        <p:spPr>
          <a:xfrm>
            <a:off x="6492240" y="277063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9" name="Heading 29"/>
          <p:cNvSpPr txBox="1"/>
          <p:nvPr/>
        </p:nvSpPr>
        <p:spPr>
          <a:xfrm>
            <a:off x="7132320" y="2697480"/>
            <a:ext cx="4343400" cy="347472"/>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Mutex (a lock)</a:t>
            </a:r>
            <a:endParaRPr lang="en-US" sz="1700" dirty="0"/>
          </a:p>
        </p:txBody>
      </p:sp>
      <p:sp>
        <p:nvSpPr>
          <p:cNvPr id="30" name="Body 30"/>
          <p:cNvSpPr txBox="1"/>
          <p:nvPr/>
        </p:nvSpPr>
        <p:spPr>
          <a:xfrm>
            <a:off x="7132320" y="3081528"/>
            <a:ext cx="4343400" cy="566928"/>
          </a:xfrm>
          <a:prstGeom prst="rect">
            <a:avLst/>
          </a:prstGeom>
          <a:noFill/>
          <a:ln/>
        </p:spPr>
        <p:txBody>
          <a:bodyPr wrap="square" lIns="0" tIns="0" rIns="0" bIns="0" rtlCol="0" anchor="t"/>
          <a:lstStyle/>
          <a:p>
            <a:pPr marL="0" indent="0" algn="l">
              <a:buNone/>
            </a:pPr>
            <a:r>
              <a:rPr lang="en-US" sz="1300" dirty="0">
                <a:solidFill>
                  <a:schemeClr val="tx2"/>
                </a:solidFill>
              </a:rPr>
              <a:t>A mutex lets only one thread change the shared results and task list at a time.</a:t>
            </a:r>
            <a:endParaRPr lang="en-US" sz="1300" dirty="0"/>
          </a:p>
        </p:txBody>
      </p:sp>
      <p:sp>
        <p:nvSpPr>
          <p:cNvPr id="31" name="Card 31"/>
          <p:cNvSpPr/>
          <p:nvPr/>
        </p:nvSpPr>
        <p:spPr>
          <a:xfrm>
            <a:off x="6309360" y="3840480"/>
            <a:ext cx="5330952" cy="1097280"/>
          </a:xfrm>
          <a:prstGeom prst="roundRect">
            <a:avLst>
              <a:gd name="adj" fmla="val 10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32" name="Number 32"/>
          <p:cNvSpPr/>
          <p:nvPr/>
        </p:nvSpPr>
        <p:spPr>
          <a:xfrm>
            <a:off x="6492240" y="400507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33" name="Heading 33"/>
          <p:cNvSpPr txBox="1"/>
          <p:nvPr/>
        </p:nvSpPr>
        <p:spPr>
          <a:xfrm>
            <a:off x="7132320" y="3931920"/>
            <a:ext cx="4343400" cy="347472"/>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Condition variables</a:t>
            </a:r>
            <a:endParaRPr lang="en-US" sz="1700" dirty="0"/>
          </a:p>
        </p:txBody>
      </p:sp>
      <p:sp>
        <p:nvSpPr>
          <p:cNvPr id="34" name="Body 34"/>
          <p:cNvSpPr txBox="1"/>
          <p:nvPr/>
        </p:nvSpPr>
        <p:spPr>
          <a:xfrm>
            <a:off x="7132320" y="4315968"/>
            <a:ext cx="4343400" cy="566928"/>
          </a:xfrm>
          <a:prstGeom prst="rect">
            <a:avLst/>
          </a:prstGeom>
          <a:noFill/>
          <a:ln/>
        </p:spPr>
        <p:txBody>
          <a:bodyPr wrap="square" lIns="0" tIns="0" rIns="0" bIns="0" rtlCol="0" anchor="t"/>
          <a:lstStyle/>
          <a:p>
            <a:pPr marL="0" indent="0" algn="l">
              <a:buNone/>
            </a:pPr>
            <a:r>
              <a:rPr lang="en-US" sz="1300" dirty="0">
                <a:solidFill>
                  <a:schemeClr val="tx2"/>
                </a:solidFill>
              </a:rPr>
              <a:t>These tools let worker threads wait until a task is ready, instead of checking again and again.</a:t>
            </a:r>
            <a:endParaRPr lang="en-US" sz="1300" dirty="0"/>
          </a:p>
        </p:txBody>
      </p:sp>
      <p:sp>
        <p:nvSpPr>
          <p:cNvPr id="35" name="Card 35"/>
          <p:cNvSpPr/>
          <p:nvPr/>
        </p:nvSpPr>
        <p:spPr>
          <a:xfrm>
            <a:off x="6309360" y="5074920"/>
            <a:ext cx="5330952" cy="1097280"/>
          </a:xfrm>
          <a:prstGeom prst="roundRect">
            <a:avLst>
              <a:gd name="adj" fmla="val 10000"/>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36" name="Number 36"/>
          <p:cNvSpPr/>
          <p:nvPr/>
        </p:nvSpPr>
        <p:spPr>
          <a:xfrm>
            <a:off x="6492240" y="5239512"/>
            <a:ext cx="457200" cy="457200"/>
          </a:xfrm>
          <a:prstGeom prst="ellipse">
            <a:avLst/>
          </a:prstGeom>
          <a:solidFill>
            <a:schemeClr val="accent1"/>
          </a:solidFill>
          <a:ln w="12700">
            <a:solidFill>
              <a:schemeClr val="accent1"/>
            </a:solidFill>
            <a:prstDash val="solid"/>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7" name="Heading 37"/>
          <p:cNvSpPr txBox="1"/>
          <p:nvPr/>
        </p:nvSpPr>
        <p:spPr>
          <a:xfrm>
            <a:off x="7132320" y="5166360"/>
            <a:ext cx="4343400" cy="347472"/>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Folder tracking</a:t>
            </a:r>
            <a:endParaRPr lang="en-US" sz="1700" dirty="0"/>
          </a:p>
        </p:txBody>
      </p:sp>
      <p:sp>
        <p:nvSpPr>
          <p:cNvPr id="38" name="Body 38"/>
          <p:cNvSpPr txBox="1"/>
          <p:nvPr/>
        </p:nvSpPr>
        <p:spPr>
          <a:xfrm>
            <a:off x="7132320" y="5550408"/>
            <a:ext cx="4343400" cy="566928"/>
          </a:xfrm>
          <a:prstGeom prst="rect">
            <a:avLst/>
          </a:prstGeom>
          <a:noFill/>
          <a:ln/>
        </p:spPr>
        <p:txBody>
          <a:bodyPr wrap="square" lIns="0" tIns="0" rIns="0" bIns="0" rtlCol="0" anchor="t"/>
          <a:lstStyle/>
          <a:p>
            <a:pPr marL="0" indent="0" algn="l">
              <a:buNone/>
            </a:pPr>
            <a:r>
              <a:rPr lang="en-US" sz="1300" dirty="0">
                <a:solidFill>
                  <a:schemeClr val="tx2"/>
                </a:solidFill>
              </a:rPr>
              <a:t>Shortcuts (symbolic links) can loop back to a folder. The program remembers visited folders to avoid this.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2"/>
          <p:cNvSpPr>
            <a:spLocks noGrp="1"/>
          </p:cNvSpPr>
          <p:nvPr>
            <p:ph type="title" idx="102" hasCustomPrompt="1"/>
          </p:nvPr>
        </p:nvSpPr>
        <p:spPr>
          <a:xfrm>
            <a:off x="548640" y="365760"/>
            <a:ext cx="9966960" cy="640080"/>
          </a:xfrm>
          <a:prstGeom prst="rect">
            <a:avLst/>
          </a:prstGeom>
          <a:noFill/>
          <a:ln/>
        </p:spPr>
        <p:txBody>
          <a:bodyPr wrap="square" lIns="0" tIns="0" rIns="0" bIns="0" rtlCol="0" anchor="ctr"/>
          <a:lstStyle/>
          <a:p>
            <a:pPr marL="0" indent="0" algn="l">
              <a:buNone/>
            </a:pPr>
            <a:r>
              <a:rPr lang="en-US" sz="3000" b="1" dirty="0">
                <a:solidFill>
                  <a:schemeClr val="tx1"/>
                </a:solidFill>
              </a:rPr>
              <a:t>Results and Testing</a:t>
            </a:r>
            <a:endParaRPr lang="en-US" sz="3000" dirty="0"/>
          </a:p>
        </p:txBody>
      </p:sp>
      <p:sp>
        <p:nvSpPr>
          <p:cNvPr id="3" name="Page number 3"/>
          <p:cNvSpPr txBox="1"/>
          <p:nvPr/>
        </p:nvSpPr>
        <p:spPr>
          <a:xfrm>
            <a:off x="10545775" y="6400800"/>
            <a:ext cx="1097280" cy="228600"/>
          </a:xfrm>
          <a:prstGeom prst="rect">
            <a:avLst/>
          </a:prstGeom>
          <a:noFill/>
          <a:ln/>
        </p:spPr>
        <p:txBody>
          <a:bodyPr wrap="square" lIns="0" tIns="0" rIns="0" bIns="0" rtlCol="0" anchor="t"/>
          <a:lstStyle/>
          <a:p>
            <a:pPr marL="0" indent="0" algn="r">
              <a:buNone/>
            </a:pPr>
            <a:r>
              <a:rPr lang="en-US" sz="1000" dirty="0">
                <a:solidFill>
                  <a:schemeClr val="accent6"/>
                </a:solidFill>
              </a:rPr>
              <a:t>10 / 11</a:t>
            </a:r>
            <a:endParaRPr lang="en-US" sz="1000" dirty="0"/>
          </a:p>
        </p:txBody>
      </p:sp>
      <p:pic>
        <p:nvPicPr>
          <p:cNvPr id="4" name="Screenshot 4" descr="Terminal: Filename search found 2 matches."/>
          <p:cNvPicPr>
            <a:picLocks noChangeAspect="1"/>
          </p:cNvPicPr>
          <p:nvPr/>
        </p:nvPicPr>
        <p:blipFill>
          <a:blip r:embed="rId3"/>
          <a:stretch>
            <a:fillRect/>
          </a:stretch>
        </p:blipFill>
        <p:spPr>
          <a:xfrm>
            <a:off x="548640" y="1371600"/>
            <a:ext cx="3429000" cy="1881963"/>
          </a:xfrm>
          <a:prstGeom prst="rect">
            <a:avLst/>
          </a:prstGeom>
          <a:ln w="12700">
            <a:solidFill>
              <a:schemeClr val="accent4"/>
            </a:solidFill>
          </a:ln>
        </p:spPr>
      </p:pic>
      <p:sp>
        <p:nvSpPr>
          <p:cNvPr id="5" name="Caption 5"/>
          <p:cNvSpPr txBox="1"/>
          <p:nvPr/>
        </p:nvSpPr>
        <p:spPr>
          <a:xfrm>
            <a:off x="548640" y="3383280"/>
            <a:ext cx="3429000" cy="411480"/>
          </a:xfrm>
          <a:prstGeom prst="rect">
            <a:avLst/>
          </a:prstGeom>
          <a:noFill/>
          <a:ln/>
        </p:spPr>
        <p:txBody>
          <a:bodyPr wrap="square" lIns="0" tIns="0" rIns="0" bIns="0" rtlCol="0" anchor="t"/>
          <a:lstStyle/>
          <a:p>
            <a:pPr marL="0" indent="0" algn="l">
              <a:buNone/>
            </a:pPr>
            <a:r>
              <a:rPr lang="en-US" sz="1200" dirty="0">
                <a:solidFill>
                  <a:schemeClr val="tx2"/>
                </a:solidFill>
              </a:rPr>
              <a:t>Filename search found 2 matches.</a:t>
            </a:r>
            <a:endParaRPr lang="en-US" sz="1200" dirty="0"/>
          </a:p>
        </p:txBody>
      </p:sp>
      <p:pic>
        <p:nvPicPr>
          <p:cNvPr id="6" name="Screenshot 6" descr="Terminal: Text search displayed matching lines."/>
          <p:cNvPicPr>
            <a:picLocks noChangeAspect="1"/>
          </p:cNvPicPr>
          <p:nvPr/>
        </p:nvPicPr>
        <p:blipFill>
          <a:blip r:embed="rId4"/>
          <a:stretch>
            <a:fillRect/>
          </a:stretch>
        </p:blipFill>
        <p:spPr>
          <a:xfrm>
            <a:off x="4160520" y="1371600"/>
            <a:ext cx="3429000" cy="1732547"/>
          </a:xfrm>
          <a:prstGeom prst="rect">
            <a:avLst/>
          </a:prstGeom>
          <a:ln w="12700">
            <a:solidFill>
              <a:schemeClr val="accent4"/>
            </a:solidFill>
          </a:ln>
        </p:spPr>
      </p:pic>
      <p:sp>
        <p:nvSpPr>
          <p:cNvPr id="7" name="Caption 7"/>
          <p:cNvSpPr txBox="1"/>
          <p:nvPr/>
        </p:nvSpPr>
        <p:spPr>
          <a:xfrm>
            <a:off x="4160520" y="3383280"/>
            <a:ext cx="3429000" cy="411480"/>
          </a:xfrm>
          <a:prstGeom prst="rect">
            <a:avLst/>
          </a:prstGeom>
          <a:noFill/>
          <a:ln/>
        </p:spPr>
        <p:txBody>
          <a:bodyPr wrap="square" lIns="0" tIns="0" rIns="0" bIns="0" rtlCol="0" anchor="t"/>
          <a:lstStyle/>
          <a:p>
            <a:pPr marL="0" indent="0" algn="l">
              <a:buNone/>
            </a:pPr>
            <a:r>
              <a:rPr lang="en-US" sz="1200" dirty="0">
                <a:solidFill>
                  <a:schemeClr val="tx2"/>
                </a:solidFill>
              </a:rPr>
              <a:t>Text search displayed matching lines.</a:t>
            </a:r>
            <a:endParaRPr lang="en-US" sz="1200" dirty="0"/>
          </a:p>
        </p:txBody>
      </p:sp>
      <p:pic>
        <p:nvPicPr>
          <p:cNvPr id="8" name="Screenshot 8" descr="Terminal: Duplicate search checked 6 files and found no duplicates."/>
          <p:cNvPicPr>
            <a:picLocks noChangeAspect="1"/>
          </p:cNvPicPr>
          <p:nvPr/>
        </p:nvPicPr>
        <p:blipFill>
          <a:blip r:embed="rId5"/>
          <a:stretch>
            <a:fillRect/>
          </a:stretch>
        </p:blipFill>
        <p:spPr>
          <a:xfrm>
            <a:off x="548640" y="3931920"/>
            <a:ext cx="3429000" cy="1664701"/>
          </a:xfrm>
          <a:prstGeom prst="rect">
            <a:avLst/>
          </a:prstGeom>
          <a:ln w="12700">
            <a:solidFill>
              <a:schemeClr val="accent4"/>
            </a:solidFill>
          </a:ln>
        </p:spPr>
      </p:pic>
      <p:sp>
        <p:nvSpPr>
          <p:cNvPr id="9" name="Caption 9"/>
          <p:cNvSpPr txBox="1"/>
          <p:nvPr/>
        </p:nvSpPr>
        <p:spPr>
          <a:xfrm>
            <a:off x="548640" y="5806440"/>
            <a:ext cx="3429000" cy="411480"/>
          </a:xfrm>
          <a:prstGeom prst="rect">
            <a:avLst/>
          </a:prstGeom>
          <a:noFill/>
          <a:ln/>
        </p:spPr>
        <p:txBody>
          <a:bodyPr wrap="square" lIns="0" tIns="0" rIns="0" bIns="0" rtlCol="0" anchor="t"/>
          <a:lstStyle/>
          <a:p>
            <a:pPr marL="0" indent="0" algn="l">
              <a:buNone/>
            </a:pPr>
            <a:r>
              <a:rPr lang="en-US" sz="1200" dirty="0">
                <a:solidFill>
                  <a:schemeClr val="tx2"/>
                </a:solidFill>
              </a:rPr>
              <a:t>Duplicate search checked 6 files and found no duplicates.</a:t>
            </a:r>
            <a:endParaRPr lang="en-US" sz="1200" dirty="0"/>
          </a:p>
        </p:txBody>
      </p:sp>
      <p:pic>
        <p:nvPicPr>
          <p:cNvPr id="10" name="Screenshot 10" descr="Terminal: A performance test compared 1, 2, 4, 8 and 12 threads."/>
          <p:cNvPicPr>
            <a:picLocks noChangeAspect="1"/>
          </p:cNvPicPr>
          <p:nvPr/>
        </p:nvPicPr>
        <p:blipFill>
          <a:blip r:embed="rId6"/>
          <a:stretch>
            <a:fillRect/>
          </a:stretch>
        </p:blipFill>
        <p:spPr>
          <a:xfrm>
            <a:off x="4160520" y="3931920"/>
            <a:ext cx="3429000" cy="1771316"/>
          </a:xfrm>
          <a:prstGeom prst="rect">
            <a:avLst/>
          </a:prstGeom>
          <a:ln w="12700">
            <a:solidFill>
              <a:schemeClr val="accent4"/>
            </a:solidFill>
          </a:ln>
        </p:spPr>
      </p:pic>
      <p:sp>
        <p:nvSpPr>
          <p:cNvPr id="11" name="Caption 11"/>
          <p:cNvSpPr txBox="1"/>
          <p:nvPr/>
        </p:nvSpPr>
        <p:spPr>
          <a:xfrm>
            <a:off x="4160520" y="5806440"/>
            <a:ext cx="3429000" cy="411480"/>
          </a:xfrm>
          <a:prstGeom prst="rect">
            <a:avLst/>
          </a:prstGeom>
          <a:noFill/>
          <a:ln/>
        </p:spPr>
        <p:txBody>
          <a:bodyPr wrap="square" lIns="0" tIns="0" rIns="0" bIns="0" rtlCol="0" anchor="t"/>
          <a:lstStyle/>
          <a:p>
            <a:pPr marL="0" indent="0" algn="l">
              <a:buNone/>
            </a:pPr>
            <a:r>
              <a:rPr lang="en-US" sz="1200" dirty="0">
                <a:solidFill>
                  <a:schemeClr val="tx2"/>
                </a:solidFill>
              </a:rPr>
              <a:t>A performance test compared 1, 2, 4, 8 and 12 threads.</a:t>
            </a:r>
            <a:endParaRPr lang="en-US" sz="1200" dirty="0"/>
          </a:p>
        </p:txBody>
      </p:sp>
      <p:sp>
        <p:nvSpPr>
          <p:cNvPr id="12" name="Card 12"/>
          <p:cNvSpPr/>
          <p:nvPr/>
        </p:nvSpPr>
        <p:spPr>
          <a:xfrm>
            <a:off x="7863840" y="1371600"/>
            <a:ext cx="3776472" cy="2011680"/>
          </a:xfrm>
          <a:prstGeom prst="roundRect">
            <a:avLst>
              <a:gd name="adj" fmla="val 5454"/>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13" name="Label 13"/>
          <p:cNvSpPr txBox="1"/>
          <p:nvPr/>
        </p:nvSpPr>
        <p:spPr>
          <a:xfrm>
            <a:off x="8092440" y="1481328"/>
            <a:ext cx="3383280" cy="36576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Speed compared with 1 thread</a:t>
            </a:r>
            <a:endParaRPr lang="en-US" sz="1600" dirty="0"/>
          </a:p>
        </p:txBody>
      </p:sp>
      <p:sp>
        <p:nvSpPr>
          <p:cNvPr id="14" name="Value 14"/>
          <p:cNvSpPr/>
          <p:nvPr/>
        </p:nvSpPr>
        <p:spPr>
          <a:xfrm>
            <a:off x="8046720" y="1965960"/>
            <a:ext cx="621792" cy="868680"/>
          </a:xfrm>
          <a:prstGeom prst="roundRect">
            <a:avLst>
              <a:gd name="adj" fmla="val 11764"/>
            </a:avLst>
          </a:prstGeom>
          <a:solidFill>
            <a:schemeClr val="bg1"/>
          </a:solidFill>
          <a:ln w="12700">
            <a:solidFill>
              <a:schemeClr val="accent4"/>
            </a:solidFill>
            <a:prstDash val="solid"/>
          </a:ln>
        </p:spPr>
        <p:txBody>
          <a:bodyPr wrap="square" lIns="0" tIns="0" rIns="0" bIns="0" rtlCol="0" anchor="ctr"/>
          <a:lstStyle/>
          <a:p>
            <a:pPr marL="0" indent="0" algn="ctr">
              <a:buNone/>
            </a:pPr>
            <a:r>
              <a:rPr lang="en-US" sz="1300" b="1" dirty="0">
                <a:solidFill>
                  <a:schemeClr val="accent1"/>
                </a:solidFill>
              </a:rPr>
              <a:t>1</a:t>
            </a:r>
            <a:endParaRPr lang="en-US" sz="1300" dirty="0"/>
          </a:p>
          <a:p>
            <a:pPr marL="0" indent="0" algn="ctr">
              <a:buNone/>
            </a:pPr>
            <a:r>
              <a:rPr lang="en-US" sz="1300" b="1" dirty="0">
                <a:solidFill>
                  <a:schemeClr val="tx1"/>
                </a:solidFill>
              </a:rPr>
              <a:t>1.00x</a:t>
            </a:r>
            <a:endParaRPr lang="en-US" sz="1300" dirty="0"/>
          </a:p>
        </p:txBody>
      </p:sp>
      <p:sp>
        <p:nvSpPr>
          <p:cNvPr id="15" name="Value 15"/>
          <p:cNvSpPr/>
          <p:nvPr/>
        </p:nvSpPr>
        <p:spPr>
          <a:xfrm>
            <a:off x="8727948" y="1965960"/>
            <a:ext cx="621792" cy="868680"/>
          </a:xfrm>
          <a:prstGeom prst="roundRect">
            <a:avLst>
              <a:gd name="adj" fmla="val 11764"/>
            </a:avLst>
          </a:prstGeom>
          <a:solidFill>
            <a:schemeClr val="bg1"/>
          </a:solidFill>
          <a:ln w="12700">
            <a:solidFill>
              <a:schemeClr val="accent4"/>
            </a:solidFill>
            <a:prstDash val="solid"/>
          </a:ln>
        </p:spPr>
        <p:txBody>
          <a:bodyPr wrap="square" lIns="0" tIns="0" rIns="0" bIns="0" rtlCol="0" anchor="ctr"/>
          <a:lstStyle/>
          <a:p>
            <a:pPr marL="0" indent="0" algn="ctr">
              <a:buNone/>
            </a:pPr>
            <a:r>
              <a:rPr lang="en-US" sz="1300" b="1" dirty="0">
                <a:solidFill>
                  <a:schemeClr val="accent1"/>
                </a:solidFill>
              </a:rPr>
              <a:t>2</a:t>
            </a:r>
            <a:endParaRPr lang="en-US" sz="1300" dirty="0"/>
          </a:p>
          <a:p>
            <a:pPr marL="0" indent="0" algn="ctr">
              <a:buNone/>
            </a:pPr>
            <a:r>
              <a:rPr lang="en-US" sz="1300" b="1" dirty="0">
                <a:solidFill>
                  <a:schemeClr val="tx1"/>
                </a:solidFill>
              </a:rPr>
              <a:t>1.60x</a:t>
            </a:r>
            <a:endParaRPr lang="en-US" sz="1300" dirty="0"/>
          </a:p>
        </p:txBody>
      </p:sp>
      <p:sp>
        <p:nvSpPr>
          <p:cNvPr id="16" name="Value 16"/>
          <p:cNvSpPr/>
          <p:nvPr/>
        </p:nvSpPr>
        <p:spPr>
          <a:xfrm>
            <a:off x="9409176" y="1965960"/>
            <a:ext cx="621792" cy="868680"/>
          </a:xfrm>
          <a:prstGeom prst="roundRect">
            <a:avLst>
              <a:gd name="adj" fmla="val 11764"/>
            </a:avLst>
          </a:prstGeom>
          <a:solidFill>
            <a:schemeClr val="bg1"/>
          </a:solidFill>
          <a:ln w="12700">
            <a:solidFill>
              <a:schemeClr val="accent4"/>
            </a:solidFill>
            <a:prstDash val="solid"/>
          </a:ln>
        </p:spPr>
        <p:txBody>
          <a:bodyPr wrap="square" lIns="0" tIns="0" rIns="0" bIns="0" rtlCol="0" anchor="ctr"/>
          <a:lstStyle/>
          <a:p>
            <a:pPr marL="0" indent="0" algn="ctr">
              <a:buNone/>
            </a:pPr>
            <a:r>
              <a:rPr lang="en-US" sz="1300" b="1" dirty="0">
                <a:solidFill>
                  <a:schemeClr val="accent1"/>
                </a:solidFill>
              </a:rPr>
              <a:t>4</a:t>
            </a:r>
            <a:endParaRPr lang="en-US" sz="1300" dirty="0"/>
          </a:p>
          <a:p>
            <a:pPr marL="0" indent="0" algn="ctr">
              <a:buNone/>
            </a:pPr>
            <a:r>
              <a:rPr lang="en-US" sz="1300" b="1" dirty="0">
                <a:solidFill>
                  <a:schemeClr val="tx1"/>
                </a:solidFill>
              </a:rPr>
              <a:t>1.07x</a:t>
            </a:r>
            <a:endParaRPr lang="en-US" sz="1300" dirty="0"/>
          </a:p>
        </p:txBody>
      </p:sp>
      <p:sp>
        <p:nvSpPr>
          <p:cNvPr id="17" name="Value 17"/>
          <p:cNvSpPr/>
          <p:nvPr/>
        </p:nvSpPr>
        <p:spPr>
          <a:xfrm>
            <a:off x="10090404" y="1965960"/>
            <a:ext cx="621792" cy="868680"/>
          </a:xfrm>
          <a:prstGeom prst="roundRect">
            <a:avLst>
              <a:gd name="adj" fmla="val 11764"/>
            </a:avLst>
          </a:prstGeom>
          <a:solidFill>
            <a:schemeClr val="bg1"/>
          </a:solidFill>
          <a:ln w="12700">
            <a:solidFill>
              <a:schemeClr val="accent4"/>
            </a:solidFill>
            <a:prstDash val="solid"/>
          </a:ln>
        </p:spPr>
        <p:txBody>
          <a:bodyPr wrap="square" lIns="0" tIns="0" rIns="0" bIns="0" rtlCol="0" anchor="ctr"/>
          <a:lstStyle/>
          <a:p>
            <a:pPr marL="0" indent="0" algn="ctr">
              <a:buNone/>
            </a:pPr>
            <a:r>
              <a:rPr lang="en-US" sz="1300" b="1" dirty="0">
                <a:solidFill>
                  <a:schemeClr val="accent1"/>
                </a:solidFill>
              </a:rPr>
              <a:t>8</a:t>
            </a:r>
            <a:endParaRPr lang="en-US" sz="1300" dirty="0"/>
          </a:p>
          <a:p>
            <a:pPr marL="0" indent="0" algn="ctr">
              <a:buNone/>
            </a:pPr>
            <a:r>
              <a:rPr lang="en-US" sz="1300" b="1" dirty="0">
                <a:solidFill>
                  <a:schemeClr val="tx1"/>
                </a:solidFill>
              </a:rPr>
              <a:t>0.42x</a:t>
            </a:r>
            <a:endParaRPr lang="en-US" sz="1300" dirty="0"/>
          </a:p>
        </p:txBody>
      </p:sp>
      <p:sp>
        <p:nvSpPr>
          <p:cNvPr id="18" name="Value 18"/>
          <p:cNvSpPr/>
          <p:nvPr/>
        </p:nvSpPr>
        <p:spPr>
          <a:xfrm>
            <a:off x="10771632" y="1965960"/>
            <a:ext cx="621792" cy="868680"/>
          </a:xfrm>
          <a:prstGeom prst="roundRect">
            <a:avLst>
              <a:gd name="adj" fmla="val 11764"/>
            </a:avLst>
          </a:prstGeom>
          <a:solidFill>
            <a:schemeClr val="bg1"/>
          </a:solidFill>
          <a:ln w="12700">
            <a:solidFill>
              <a:schemeClr val="accent4"/>
            </a:solidFill>
            <a:prstDash val="solid"/>
          </a:ln>
        </p:spPr>
        <p:txBody>
          <a:bodyPr wrap="square" lIns="0" tIns="0" rIns="0" bIns="0" rtlCol="0" anchor="ctr"/>
          <a:lstStyle/>
          <a:p>
            <a:pPr marL="0" indent="0" algn="ctr">
              <a:buNone/>
            </a:pPr>
            <a:r>
              <a:rPr lang="en-US" sz="1300" b="1" dirty="0">
                <a:solidFill>
                  <a:schemeClr val="accent1"/>
                </a:solidFill>
              </a:rPr>
              <a:t>12</a:t>
            </a:r>
            <a:endParaRPr lang="en-US" sz="1300" dirty="0"/>
          </a:p>
          <a:p>
            <a:pPr marL="0" indent="0" algn="ctr">
              <a:buNone/>
            </a:pPr>
            <a:r>
              <a:rPr lang="en-US" sz="1300" b="1" dirty="0">
                <a:solidFill>
                  <a:schemeClr val="tx1"/>
                </a:solidFill>
              </a:rPr>
              <a:t>0.46x</a:t>
            </a:r>
            <a:endParaRPr lang="en-US" sz="1300" dirty="0"/>
          </a:p>
        </p:txBody>
      </p:sp>
      <p:sp>
        <p:nvSpPr>
          <p:cNvPr id="19" name="Note 19"/>
          <p:cNvSpPr txBox="1"/>
          <p:nvPr/>
        </p:nvSpPr>
        <p:spPr>
          <a:xfrm>
            <a:off x="8092440" y="2926080"/>
            <a:ext cx="3383280" cy="365760"/>
          </a:xfrm>
          <a:prstGeom prst="rect">
            <a:avLst/>
          </a:prstGeom>
          <a:noFill/>
          <a:ln/>
        </p:spPr>
        <p:txBody>
          <a:bodyPr wrap="square" lIns="0" tIns="0" rIns="0" bIns="0" rtlCol="0" anchor="t"/>
          <a:lstStyle/>
          <a:p>
            <a:pPr marL="0" indent="0" algn="l">
              <a:buNone/>
            </a:pPr>
            <a:r>
              <a:rPr lang="en-US" sz="1200" dirty="0">
                <a:solidFill>
                  <a:schemeClr val="tx2"/>
                </a:solidFill>
              </a:rPr>
              <a:t>Threads (top) and speed (bottom), 6-file folder</a:t>
            </a:r>
            <a:endParaRPr lang="en-US" sz="1200" dirty="0"/>
          </a:p>
        </p:txBody>
      </p:sp>
      <p:sp>
        <p:nvSpPr>
          <p:cNvPr id="20" name="Card 20"/>
          <p:cNvSpPr/>
          <p:nvPr/>
        </p:nvSpPr>
        <p:spPr>
          <a:xfrm>
            <a:off x="7863840" y="3566160"/>
            <a:ext cx="3776472" cy="1554480"/>
          </a:xfrm>
          <a:prstGeom prst="roundRect">
            <a:avLst>
              <a:gd name="adj" fmla="val 7058"/>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1" name="Heading 21"/>
          <p:cNvSpPr txBox="1"/>
          <p:nvPr/>
        </p:nvSpPr>
        <p:spPr>
          <a:xfrm>
            <a:off x="8092440" y="3657600"/>
            <a:ext cx="3383280" cy="365760"/>
          </a:xfrm>
          <a:prstGeom prst="rect">
            <a:avLst/>
          </a:prstGeom>
          <a:noFill/>
          <a:ln/>
        </p:spPr>
        <p:txBody>
          <a:bodyPr wrap="square" lIns="0" tIns="0" rIns="0" bIns="0" rtlCol="0" anchor="ctr"/>
          <a:lstStyle/>
          <a:p>
            <a:pPr marL="0" indent="0" algn="l">
              <a:buNone/>
            </a:pPr>
            <a:r>
              <a:rPr lang="en-US" sz="1700" b="1" dirty="0">
                <a:solidFill>
                  <a:schemeClr val="tx1"/>
                </a:solidFill>
                <a:latin typeface="Cambria" pitchFamily="34" charset="0"/>
                <a:ea typeface="Cambria" pitchFamily="34" charset="-122"/>
                <a:cs typeface="Cambria" pitchFamily="34" charset="-120"/>
              </a:rPr>
              <a:t>Why not faster?</a:t>
            </a:r>
            <a:endParaRPr lang="en-US" sz="1700" dirty="0"/>
          </a:p>
        </p:txBody>
      </p:sp>
      <p:sp>
        <p:nvSpPr>
          <p:cNvPr id="22" name="Body 22"/>
          <p:cNvSpPr txBox="1"/>
          <p:nvPr/>
        </p:nvSpPr>
        <p:spPr>
          <a:xfrm>
            <a:off x="8092440" y="4114800"/>
            <a:ext cx="3383280" cy="960120"/>
          </a:xfrm>
          <a:prstGeom prst="rect">
            <a:avLst/>
          </a:prstGeom>
          <a:noFill/>
          <a:ln/>
        </p:spPr>
        <p:txBody>
          <a:bodyPr wrap="square" lIns="0" tIns="0" rIns="0" bIns="0" rtlCol="0" anchor="t"/>
          <a:lstStyle/>
          <a:p>
            <a:pPr marL="0" indent="0" algn="l">
              <a:buNone/>
            </a:pPr>
            <a:r>
              <a:rPr lang="en-US" sz="1300" dirty="0">
                <a:solidFill>
                  <a:schemeClr val="tx2"/>
                </a:solidFill>
              </a:rPr>
              <a:t>A small folder may not get faster with more threads, because starting and managing the threads also takes time.</a:t>
            </a:r>
            <a:endParaRPr lang="en-US" sz="1300" dirty="0"/>
          </a:p>
        </p:txBody>
      </p:sp>
      <p:sp>
        <p:nvSpPr>
          <p:cNvPr id="23" name="Card 23"/>
          <p:cNvSpPr/>
          <p:nvPr/>
        </p:nvSpPr>
        <p:spPr>
          <a:xfrm>
            <a:off x="7863840" y="5303520"/>
            <a:ext cx="3776472" cy="868680"/>
          </a:xfrm>
          <a:prstGeom prst="roundRect">
            <a:avLst>
              <a:gd name="adj" fmla="val 12631"/>
            </a:avLst>
          </a:prstGeom>
          <a:solidFill>
            <a:schemeClr val="bg2"/>
          </a:solidFill>
          <a:ln w="12700">
            <a:solidFill>
              <a:schemeClr val="accent4"/>
            </a:solidFill>
            <a:prstDash val="solid"/>
          </a:ln>
          <a:effectLst>
            <a:outerShdw blurRad="101600" dist="25400" dir="5400000" algn="bl" rotWithShape="0">
              <a:srgbClr val="0B2545">
                <a:alpha val="10000"/>
              </a:srgbClr>
            </a:outerShdw>
          </a:effectLst>
        </p:spPr>
      </p:sp>
      <p:sp>
        <p:nvSpPr>
          <p:cNvPr id="24" name="Heading 24"/>
          <p:cNvSpPr txBox="1"/>
          <p:nvPr/>
        </p:nvSpPr>
        <p:spPr>
          <a:xfrm>
            <a:off x="8092440" y="5367528"/>
            <a:ext cx="3383280" cy="320040"/>
          </a:xfrm>
          <a:prstGeom prst="rect">
            <a:avLst/>
          </a:prstGeom>
          <a:noFill/>
          <a:ln/>
        </p:spPr>
        <p:txBody>
          <a:bodyPr wrap="square" lIns="0" tIns="0" rIns="0" bIns="0" rtlCol="0" anchor="ctr"/>
          <a:lstStyle/>
          <a:p>
            <a:pPr marL="0" indent="0" algn="l">
              <a:buNone/>
            </a:pPr>
            <a:r>
              <a:rPr lang="en-US" sz="1600" b="1" dirty="0">
                <a:solidFill>
                  <a:schemeClr val="tx1"/>
                </a:solidFill>
                <a:latin typeface="Cambria" pitchFamily="34" charset="0"/>
                <a:ea typeface="Cambria" pitchFamily="34" charset="-122"/>
                <a:cs typeface="Cambria" pitchFamily="34" charset="-120"/>
              </a:rPr>
              <a:t>Still to do</a:t>
            </a:r>
            <a:endParaRPr lang="en-US" sz="1600" dirty="0"/>
          </a:p>
        </p:txBody>
      </p:sp>
      <p:sp>
        <p:nvSpPr>
          <p:cNvPr id="25" name="Body 25"/>
          <p:cNvSpPr txBox="1"/>
          <p:nvPr/>
        </p:nvSpPr>
        <p:spPr>
          <a:xfrm>
            <a:off x="8092440" y="5733288"/>
            <a:ext cx="3383280" cy="365760"/>
          </a:xfrm>
          <a:prstGeom prst="rect">
            <a:avLst/>
          </a:prstGeom>
          <a:noFill/>
          <a:ln/>
        </p:spPr>
        <p:txBody>
          <a:bodyPr wrap="square" lIns="0" tIns="0" rIns="0" bIns="0" rtlCol="0" anchor="t"/>
          <a:lstStyle/>
          <a:p>
            <a:pPr marL="0" indent="0" algn="l">
              <a:buNone/>
            </a:pPr>
            <a:r>
              <a:rPr lang="en-US" sz="1300" dirty="0">
                <a:solidFill>
                  <a:schemeClr val="tx2"/>
                </a:solidFill>
              </a:rPr>
              <a:t>A test on a larger folder is still pending.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595360" y="-1280160"/>
            <a:ext cx="5303520" cy="5303520"/>
          </a:xfrm>
          <a:prstGeom prst="ellipse">
            <a:avLst/>
          </a:prstGeom>
          <a:solidFill>
            <a:schemeClr val="accent2"/>
          </a:solidFill>
          <a:ln w="12700">
            <a:solidFill>
              <a:schemeClr val="accent2"/>
            </a:solidFill>
            <a:prstDash val="solid"/>
          </a:ln>
        </p:spPr>
      </p:sp>
      <p:sp>
        <p:nvSpPr>
          <p:cNvPr id="3" name="Shape 1"/>
          <p:cNvSpPr/>
          <p:nvPr/>
        </p:nvSpPr>
        <p:spPr>
          <a:xfrm>
            <a:off x="10332720" y="2103120"/>
            <a:ext cx="3291840" cy="3291840"/>
          </a:xfrm>
          <a:prstGeom prst="ellipse">
            <a:avLst/>
          </a:prstGeom>
          <a:solidFill>
            <a:schemeClr val="accent1"/>
          </a:solidFill>
          <a:ln w="12700">
            <a:solidFill>
              <a:schemeClr val="accent1"/>
            </a:solidFill>
            <a:prstDash val="solid"/>
          </a:ln>
        </p:spPr>
      </p:sp>
      <p:sp>
        <p:nvSpPr>
          <p:cNvPr id="5" name="Text 2"/>
          <p:cNvSpPr txBox="1"/>
          <p:nvPr/>
        </p:nvSpPr>
        <p:spPr>
          <a:xfrm>
            <a:off x="548640" y="2651760"/>
            <a:ext cx="11091672" cy="1097280"/>
          </a:xfrm>
          <a:prstGeom prst="rect">
            <a:avLst/>
          </a:prstGeom>
          <a:noFill/>
          <a:ln/>
        </p:spPr>
        <p:txBody>
          <a:bodyPr wrap="square" lIns="0" tIns="0" rIns="0" bIns="0" rtlCol="0" anchor="ctr"/>
          <a:lstStyle/>
          <a:p>
            <a:pPr marL="0" indent="0" algn="ctr">
              <a:buNone/>
            </a:pPr>
            <a:r>
              <a:rPr lang="en-US" sz="6600" b="1" dirty="0">
                <a:solidFill>
                  <a:schemeClr val="tx1"/>
                </a:solidFill>
                <a:latin typeface="Cambria" pitchFamily="34" charset="0"/>
                <a:ea typeface="Cambria" pitchFamily="34" charset="-122"/>
                <a:cs typeface="Cambria" pitchFamily="34" charset="-120"/>
              </a:rPr>
              <a:t>Thank You</a:t>
            </a:r>
            <a:endParaRPr lang="en-US" sz="6600" dirty="0"/>
          </a:p>
        </p:txBody>
      </p:sp>
      <p:sp>
        <p:nvSpPr>
          <p:cNvPr id="6" name="Shape 3"/>
          <p:cNvSpPr/>
          <p:nvPr/>
        </p:nvSpPr>
        <p:spPr>
          <a:xfrm>
            <a:off x="5775960" y="3931920"/>
            <a:ext cx="640080" cy="45720"/>
          </a:xfrm>
          <a:prstGeom prst="rect">
            <a:avLst/>
          </a:prstGeom>
          <a:solidFill>
            <a:schemeClr val="accent2"/>
          </a:solidFill>
          <a:ln w="12700">
            <a:solidFill>
              <a:schemeClr val="accent2"/>
            </a:solidFill>
            <a:prstDash val="solid"/>
          </a:ln>
        </p:spPr>
      </p:sp>
      <p:pic>
        <p:nvPicPr>
          <p:cNvPr id="16" name="Image 0" descr="KLH University logo">
            <a:extLst>
              <a:ext uri="{FF2B5EF4-FFF2-40B4-BE49-F238E27FC236}">
                <a16:creationId xmlns:a16="http://schemas.microsoft.com/office/drawing/2014/main" id="{3902245B-5490-1379-9A97-7D145F4F5C51}"/>
              </a:ext>
            </a:extLst>
          </p:cNvPr>
          <p:cNvPicPr>
            <a:picLocks noChangeAspect="1"/>
          </p:cNvPicPr>
          <p:nvPr/>
        </p:nvPicPr>
        <p:blipFill>
          <a:blip r:embed="rId3"/>
          <a:stretch>
            <a:fillRect/>
          </a:stretch>
        </p:blipFill>
        <p:spPr>
          <a:xfrm>
            <a:off x="182534" y="-38717"/>
            <a:ext cx="2194906" cy="1631913"/>
          </a:xfrm>
          <a:prstGeom prst="rect">
            <a:avLst/>
          </a:prstGeom>
        </p:spPr>
      </p:pic>
    </p:spTree>
  </p:cSld>
  <p:clrMapOvr>
    <a:masterClrMapping/>
  </p:clrMapOvr>
</p:sld>
</file>

<file path=ppt/theme/theme1.xml><?xml version="1.0" encoding="utf-8"?>
<a:theme xmlns:a="http://schemas.openxmlformats.org/drawingml/2006/main" name="CricVision">
  <a:themeElements>
    <a:clrScheme name="CricVision">
      <a:dk1>
        <a:srgbClr val="0B2545"/>
      </a:dk1>
      <a:lt1>
        <a:srgbClr val="FFFFFF"/>
      </a:lt1>
      <a:dk2>
        <a:srgbClr val="475569"/>
      </a:dk2>
      <a:lt2>
        <a:srgbClr val="F3F9FC"/>
      </a:lt2>
      <a:accent1>
        <a:srgbClr val="0E7490"/>
      </a:accent1>
      <a:accent2>
        <a:srgbClr val="22C3E6"/>
      </a:accent2>
      <a:accent3>
        <a:srgbClr val="2563EB"/>
      </a:accent3>
      <a:accent4>
        <a:srgbClr val="D5E8F0"/>
      </a:accent4>
      <a:accent5>
        <a:srgbClr val="0F2236"/>
      </a:accent5>
      <a:accent6>
        <a:srgbClr val="94A3B8"/>
      </a:accent6>
      <a:hlink>
        <a:srgbClr val="0E7490"/>
      </a:hlink>
      <a:folHlink>
        <a:srgbClr val="475569"/>
      </a:folHlink>
    </a:clrScheme>
    <a:fontScheme name="Cric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1704</Words>
  <Application>Microsoft Office PowerPoint</Application>
  <PresentationFormat>Widescreen</PresentationFormat>
  <Paragraphs>238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Cambria</vt:lpstr>
      <vt:lpstr>CricVision</vt:lpstr>
      <vt:lpstr>PowerPoint Presentation</vt:lpstr>
      <vt:lpstr>Problem Statement</vt:lpstr>
      <vt:lpstr>Technologies Used</vt:lpstr>
      <vt:lpstr>System Architecture</vt:lpstr>
      <vt:lpstr>Working Methodology</vt:lpstr>
      <vt:lpstr>Main Menu: Search and Discovery</vt:lpstr>
      <vt:lpstr>Main Menu: Advanced Search Operations</vt:lpstr>
      <vt:lpstr>Main Menu: Duplicates and Utilities</vt:lpstr>
      <vt:lpstr>Algorithms and Multithreading</vt:lpstr>
      <vt:lpstr>Results and Testing</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CricVision - Match Outcome Prediction</dc:title>
  <dc:subject>PptxGenJS Presentation</dc:subject>
  <dc:creator>Venkata Sai Krishna, Ajai Manikanta</dc:creator>
  <cp:lastModifiedBy>Venkat Sai Krishna</cp:lastModifiedBy>
  <cp:revision>11</cp:revision>
  <dcterms:created xsi:type="dcterms:W3CDTF">2026-10-04T11:51:15Z</dcterms:created>
  <dcterms:modified xsi:type="dcterms:W3CDTF">2026-10-17T04:28:55Z</dcterms:modified>
</cp:coreProperties>
</file>